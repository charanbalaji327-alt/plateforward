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Inter" charset="1" panose="020B0502030000000004"/>
      <p:regular r:id="rId17"/>
    </p:embeddedFont>
    <p:embeddedFont>
      <p:font typeface="Inter Medium" charset="1" panose="02000503000000020004"/>
      <p:regular r:id="rId18"/>
    </p:embeddedFont>
    <p:embeddedFont>
      <p:font typeface="Inter Semi-Bold" charset="1" panose="0200050300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16" Target="../media/image54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69.png" Type="http://schemas.openxmlformats.org/officeDocument/2006/relationships/image"/><Relationship Id="rId17" Target="../media/image70.png" Type="http://schemas.openxmlformats.org/officeDocument/2006/relationships/image"/><Relationship Id="rId18" Target="../media/image71.png" Type="http://schemas.openxmlformats.org/officeDocument/2006/relationships/image"/><Relationship Id="rId19" Target="../media/image72.png" Type="http://schemas.openxmlformats.org/officeDocument/2006/relationships/image"/><Relationship Id="rId2" Target="../media/image55.png" Type="http://schemas.openxmlformats.org/officeDocument/2006/relationships/image"/><Relationship Id="rId20" Target="../media/image73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png" Type="http://schemas.openxmlformats.org/officeDocument/2006/relationships/image"/><Relationship Id="rId12" Target="../media/image84.png" Type="http://schemas.openxmlformats.org/officeDocument/2006/relationships/image"/><Relationship Id="rId13" Target="../media/image85.png" Type="http://schemas.openxmlformats.org/officeDocument/2006/relationships/image"/><Relationship Id="rId14" Target="../media/image86.png" Type="http://schemas.openxmlformats.org/officeDocument/2006/relationships/image"/><Relationship Id="rId2" Target="../media/image74.png" Type="http://schemas.openxmlformats.org/officeDocument/2006/relationships/image"/><Relationship Id="rId3" Target="../media/image75.pn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97.png" Type="http://schemas.openxmlformats.org/officeDocument/2006/relationships/image"/><Relationship Id="rId13" Target="../media/image98.png" Type="http://schemas.openxmlformats.org/officeDocument/2006/relationships/image"/><Relationship Id="rId14" Target="../media/image99.png" Type="http://schemas.openxmlformats.org/officeDocument/2006/relationships/image"/><Relationship Id="rId15" Target="../media/image100.png" Type="http://schemas.openxmlformats.org/officeDocument/2006/relationships/image"/><Relationship Id="rId16" Target="../media/image101.png" Type="http://schemas.openxmlformats.org/officeDocument/2006/relationships/image"/><Relationship Id="rId17" Target="../media/image102.png" Type="http://schemas.openxmlformats.org/officeDocument/2006/relationships/image"/><Relationship Id="rId18" Target="../media/image103.png" Type="http://schemas.openxmlformats.org/officeDocument/2006/relationships/image"/><Relationship Id="rId19" Target="../media/image104.png" Type="http://schemas.openxmlformats.org/officeDocument/2006/relationships/image"/><Relationship Id="rId2" Target="../media/image87.png" Type="http://schemas.openxmlformats.org/officeDocument/2006/relationships/image"/><Relationship Id="rId20" Target="../media/image105.png" Type="http://schemas.openxmlformats.org/officeDocument/2006/relationships/image"/><Relationship Id="rId21" Target="../media/image106.png" Type="http://schemas.openxmlformats.org/officeDocument/2006/relationships/image"/><Relationship Id="rId22" Target="../media/image107.png" Type="http://schemas.openxmlformats.org/officeDocument/2006/relationships/image"/><Relationship Id="rId23" Target="../media/image108.png" Type="http://schemas.openxmlformats.org/officeDocument/2006/relationships/image"/><Relationship Id="rId24" Target="../media/image109.pn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Relationship Id="rId5" Target="../media/image90.png" Type="http://schemas.openxmlformats.org/officeDocument/2006/relationships/image"/><Relationship Id="rId6" Target="../media/image91.png" Type="http://schemas.openxmlformats.org/officeDocument/2006/relationships/image"/><Relationship Id="rId7" Target="../media/image92.png" Type="http://schemas.openxmlformats.org/officeDocument/2006/relationships/image"/><Relationship Id="rId8" Target="../media/image93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19.png" Type="http://schemas.openxmlformats.org/officeDocument/2006/relationships/image"/><Relationship Id="rId12" Target="../media/image120.png" Type="http://schemas.openxmlformats.org/officeDocument/2006/relationships/image"/><Relationship Id="rId13" Target="../media/image121.png" Type="http://schemas.openxmlformats.org/officeDocument/2006/relationships/image"/><Relationship Id="rId14" Target="../media/image122.png" Type="http://schemas.openxmlformats.org/officeDocument/2006/relationships/image"/><Relationship Id="rId15" Target="../media/image123.png" Type="http://schemas.openxmlformats.org/officeDocument/2006/relationships/image"/><Relationship Id="rId16" Target="../media/image124.png" Type="http://schemas.openxmlformats.org/officeDocument/2006/relationships/image"/><Relationship Id="rId2" Target="../media/image110.png" Type="http://schemas.openxmlformats.org/officeDocument/2006/relationships/image"/><Relationship Id="rId3" Target="../media/image111.pn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Relationship Id="rId6" Target="../media/image114.png" Type="http://schemas.openxmlformats.org/officeDocument/2006/relationships/image"/><Relationship Id="rId7" Target="../media/image115.png" Type="http://schemas.openxmlformats.org/officeDocument/2006/relationships/image"/><Relationship Id="rId8" Target="../media/image116.png" Type="http://schemas.openxmlformats.org/officeDocument/2006/relationships/image"/><Relationship Id="rId9" Target="../media/image1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png" Type="http://schemas.openxmlformats.org/officeDocument/2006/relationships/image"/><Relationship Id="rId11" Target="../media/image134.png" Type="http://schemas.openxmlformats.org/officeDocument/2006/relationships/image"/><Relationship Id="rId12" Target="../media/image135.png" Type="http://schemas.openxmlformats.org/officeDocument/2006/relationships/image"/><Relationship Id="rId13" Target="../media/image136.png" Type="http://schemas.openxmlformats.org/officeDocument/2006/relationships/image"/><Relationship Id="rId14" Target="../media/image137.png" Type="http://schemas.openxmlformats.org/officeDocument/2006/relationships/image"/><Relationship Id="rId15" Target="../media/image138.png" Type="http://schemas.openxmlformats.org/officeDocument/2006/relationships/image"/><Relationship Id="rId16" Target="../media/image139.png" Type="http://schemas.openxmlformats.org/officeDocument/2006/relationships/image"/><Relationship Id="rId17" Target="../media/image140.png" Type="http://schemas.openxmlformats.org/officeDocument/2006/relationships/image"/><Relationship Id="rId2" Target="../media/image125.png" Type="http://schemas.openxmlformats.org/officeDocument/2006/relationships/image"/><Relationship Id="rId3" Target="../media/image126.png" Type="http://schemas.openxmlformats.org/officeDocument/2006/relationships/image"/><Relationship Id="rId4" Target="../media/image127.png" Type="http://schemas.openxmlformats.org/officeDocument/2006/relationships/image"/><Relationship Id="rId5" Target="../media/image128.png" Type="http://schemas.openxmlformats.org/officeDocument/2006/relationships/image"/><Relationship Id="rId6" Target="../media/image129.png" Type="http://schemas.openxmlformats.org/officeDocument/2006/relationships/image"/><Relationship Id="rId7" Target="../media/image130.png" Type="http://schemas.openxmlformats.org/officeDocument/2006/relationships/image"/><Relationship Id="rId8" Target="../media/image131.pn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9.png" Type="http://schemas.openxmlformats.org/officeDocument/2006/relationships/image"/><Relationship Id="rId2" Target="../media/image141.png" Type="http://schemas.openxmlformats.org/officeDocument/2006/relationships/image"/><Relationship Id="rId3" Target="../media/image142.png" Type="http://schemas.openxmlformats.org/officeDocument/2006/relationships/image"/><Relationship Id="rId4" Target="../media/image143.png" Type="http://schemas.openxmlformats.org/officeDocument/2006/relationships/image"/><Relationship Id="rId5" Target="../media/image144.png" Type="http://schemas.openxmlformats.org/officeDocument/2006/relationships/image"/><Relationship Id="rId6" Target="../media/image145.png" Type="http://schemas.openxmlformats.org/officeDocument/2006/relationships/image"/><Relationship Id="rId7" Target="../media/image146.png" Type="http://schemas.openxmlformats.org/officeDocument/2006/relationships/image"/><Relationship Id="rId8" Target="../media/image147.png" Type="http://schemas.openxmlformats.org/officeDocument/2006/relationships/image"/><Relationship Id="rId9" Target="../media/image14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8.png" Type="http://schemas.openxmlformats.org/officeDocument/2006/relationships/image"/><Relationship Id="rId11" Target="../media/image159.png" Type="http://schemas.openxmlformats.org/officeDocument/2006/relationships/image"/><Relationship Id="rId12" Target="../media/image160.png" Type="http://schemas.openxmlformats.org/officeDocument/2006/relationships/image"/><Relationship Id="rId13" Target="../media/image161.png" Type="http://schemas.openxmlformats.org/officeDocument/2006/relationships/image"/><Relationship Id="rId14" Target="../media/image162.png" Type="http://schemas.openxmlformats.org/officeDocument/2006/relationships/image"/><Relationship Id="rId15" Target="../media/image163.png" Type="http://schemas.openxmlformats.org/officeDocument/2006/relationships/image"/><Relationship Id="rId16" Target="../media/image164.png" Type="http://schemas.openxmlformats.org/officeDocument/2006/relationships/image"/><Relationship Id="rId17" Target="../media/image165.png" Type="http://schemas.openxmlformats.org/officeDocument/2006/relationships/image"/><Relationship Id="rId18" Target="../media/image166.png" Type="http://schemas.openxmlformats.org/officeDocument/2006/relationships/image"/><Relationship Id="rId19" Target="../media/image167.png" Type="http://schemas.openxmlformats.org/officeDocument/2006/relationships/image"/><Relationship Id="rId2" Target="../media/image150.png" Type="http://schemas.openxmlformats.org/officeDocument/2006/relationships/image"/><Relationship Id="rId20" Target="../media/image168.png" Type="http://schemas.openxmlformats.org/officeDocument/2006/relationships/image"/><Relationship Id="rId3" Target="../media/image151.png" Type="http://schemas.openxmlformats.org/officeDocument/2006/relationships/image"/><Relationship Id="rId4" Target="../media/image152.png" Type="http://schemas.openxmlformats.org/officeDocument/2006/relationships/image"/><Relationship Id="rId5" Target="../media/image153.png" Type="http://schemas.openxmlformats.org/officeDocument/2006/relationships/image"/><Relationship Id="rId6" Target="../media/image154.png" Type="http://schemas.openxmlformats.org/officeDocument/2006/relationships/image"/><Relationship Id="rId7" Target="../media/image155.png" Type="http://schemas.openxmlformats.org/officeDocument/2006/relationships/image"/><Relationship Id="rId8" Target="../media/image156.png" Type="http://schemas.openxmlformats.org/officeDocument/2006/relationships/image"/><Relationship Id="rId9" Target="../media/image15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858000"/>
            <a:ext cx="4143375" cy="3429000"/>
          </a:xfrm>
          <a:custGeom>
            <a:avLst/>
            <a:gdLst/>
            <a:ahLst/>
            <a:cxnLst/>
            <a:rect r="r" b="b" t="t" l="l"/>
            <a:pathLst>
              <a:path h="3429000" w="4143375">
                <a:moveTo>
                  <a:pt x="0" y="0"/>
                </a:moveTo>
                <a:lnTo>
                  <a:pt x="4143375" y="0"/>
                </a:lnTo>
                <a:lnTo>
                  <a:pt x="41433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10775" y="6000750"/>
            <a:ext cx="8277225" cy="4286250"/>
          </a:xfrm>
          <a:custGeom>
            <a:avLst/>
            <a:gdLst/>
            <a:ahLst/>
            <a:cxnLst/>
            <a:rect r="r" b="b" t="t" l="l"/>
            <a:pathLst>
              <a:path h="4286250" w="8277225">
                <a:moveTo>
                  <a:pt x="0" y="0"/>
                </a:moveTo>
                <a:lnTo>
                  <a:pt x="8277225" y="0"/>
                </a:lnTo>
                <a:lnTo>
                  <a:pt x="827722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43700" y="2571750"/>
            <a:ext cx="8715375" cy="4286250"/>
          </a:xfrm>
          <a:custGeom>
            <a:avLst/>
            <a:gdLst/>
            <a:ahLst/>
            <a:cxnLst/>
            <a:rect r="r" b="b" t="t" l="l"/>
            <a:pathLst>
              <a:path h="4286250" w="8715375">
                <a:moveTo>
                  <a:pt x="0" y="0"/>
                </a:moveTo>
                <a:lnTo>
                  <a:pt x="8715375" y="0"/>
                </a:lnTo>
                <a:lnTo>
                  <a:pt x="87153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6656" y="894574"/>
            <a:ext cx="9528048" cy="151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1"/>
              </a:lnSpc>
            </a:pPr>
            <a:r>
              <a:rPr lang="en-US" sz="11341" b="true">
                <a:solidFill>
                  <a:srgbClr val="292E32"/>
                </a:solidFill>
                <a:latin typeface="Inter Bold"/>
                <a:ea typeface="Inter Bold"/>
                <a:cs typeface="Inter Bold"/>
                <a:sym typeface="Inter Bold"/>
              </a:rPr>
              <a:t>PlateForward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3232" y="2583967"/>
            <a:ext cx="7808976" cy="62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3"/>
              </a:lnSpc>
            </a:pPr>
            <a:r>
              <a:rPr lang="en-US" sz="4783" b="true">
                <a:solidFill>
                  <a:srgbClr val="E66635"/>
                </a:solidFill>
                <a:latin typeface="Inter Bold"/>
                <a:ea typeface="Inter Bold"/>
                <a:cs typeface="Inter Bold"/>
                <a:sym typeface="Inter Bold"/>
              </a:rPr>
              <a:t>Rescue Food. Share Hope.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3533311"/>
            <a:ext cx="4919472" cy="30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301">
                <a:solidFill>
                  <a:srgbClr val="292E32"/>
                </a:solidFill>
                <a:latin typeface="Inter"/>
                <a:ea typeface="Inter"/>
                <a:cs typeface="Inter"/>
                <a:sym typeface="Inter"/>
              </a:rPr>
              <a:t>Food Waste Redistribution Platform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4189375"/>
            <a:ext cx="3950208" cy="270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2017" b="true">
                <a:solidFill>
                  <a:srgbClr val="4E7F5A"/>
                </a:solidFill>
                <a:latin typeface="Inter Bold"/>
                <a:ea typeface="Inter Bold"/>
                <a:cs typeface="Inter Bold"/>
                <a:sym typeface="Inter Bold"/>
              </a:rPr>
              <a:t>Hackathon Frontend Prototype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838575" y="4714875"/>
            <a:ext cx="2914650" cy="4248150"/>
          </a:xfrm>
          <a:custGeom>
            <a:avLst/>
            <a:gdLst/>
            <a:ahLst/>
            <a:cxnLst/>
            <a:rect r="r" b="b" t="t" l="l"/>
            <a:pathLst>
              <a:path h="4248150" w="2914650">
                <a:moveTo>
                  <a:pt x="0" y="0"/>
                </a:moveTo>
                <a:lnTo>
                  <a:pt x="2914650" y="0"/>
                </a:lnTo>
                <a:lnTo>
                  <a:pt x="2914650" y="4248150"/>
                </a:lnTo>
                <a:lnTo>
                  <a:pt x="0" y="424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01" t="0" r="0" b="-89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10025" y="4895850"/>
            <a:ext cx="2590800" cy="466725"/>
          </a:xfrm>
          <a:custGeom>
            <a:avLst/>
            <a:gdLst/>
            <a:ahLst/>
            <a:cxnLst/>
            <a:rect r="r" b="b" t="t" l="l"/>
            <a:pathLst>
              <a:path h="466725" w="2590800">
                <a:moveTo>
                  <a:pt x="0" y="0"/>
                </a:moveTo>
                <a:lnTo>
                  <a:pt x="2590800" y="0"/>
                </a:lnTo>
                <a:lnTo>
                  <a:pt x="2590800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676" t="-38775" r="-588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96512" y="5591904"/>
            <a:ext cx="1225296" cy="21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592" b="true">
                <a:solidFill>
                  <a:srgbClr val="292E32"/>
                </a:solidFill>
                <a:latin typeface="Inter Bold"/>
                <a:ea typeface="Inter Bold"/>
                <a:cs typeface="Inter Bold"/>
                <a:sym typeface="Inter Bold"/>
              </a:rPr>
              <a:t>Restaurants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067175" y="6276975"/>
            <a:ext cx="2466975" cy="1752600"/>
          </a:xfrm>
          <a:custGeom>
            <a:avLst/>
            <a:gdLst/>
            <a:ahLst/>
            <a:cxnLst/>
            <a:rect r="r" b="b" t="t" l="l"/>
            <a:pathLst>
              <a:path h="1752600" w="2466975">
                <a:moveTo>
                  <a:pt x="0" y="0"/>
                </a:moveTo>
                <a:lnTo>
                  <a:pt x="2466975" y="0"/>
                </a:lnTo>
                <a:lnTo>
                  <a:pt x="2466975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177" t="-3804" r="0" b="-652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76700" y="8191500"/>
            <a:ext cx="2457450" cy="523875"/>
          </a:xfrm>
          <a:custGeom>
            <a:avLst/>
            <a:gdLst/>
            <a:ahLst/>
            <a:cxnLst/>
            <a:rect r="r" b="b" t="t" l="l"/>
            <a:pathLst>
              <a:path h="523875" w="2457450">
                <a:moveTo>
                  <a:pt x="0" y="0"/>
                </a:moveTo>
                <a:lnTo>
                  <a:pt x="2457450" y="0"/>
                </a:lnTo>
                <a:lnTo>
                  <a:pt x="245745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589" t="-9090" r="0" b="-1454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736592" y="8380270"/>
            <a:ext cx="1097280" cy="19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6"/>
              </a:lnSpc>
            </a:pPr>
            <a:r>
              <a:rPr lang="en-US" sz="1486" b="true">
                <a:solidFill>
                  <a:srgbClr val="E66635"/>
                </a:solidFill>
                <a:latin typeface="Inter Bold"/>
                <a:ea typeface="Inter Bold"/>
                <a:cs typeface="Inter Bold"/>
                <a:sym typeface="Inter Bold"/>
              </a:rPr>
              <a:t>Food Saved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743700" y="621030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629525" y="3943350"/>
            <a:ext cx="5715000" cy="4972050"/>
          </a:xfrm>
          <a:custGeom>
            <a:avLst/>
            <a:gdLst/>
            <a:ahLst/>
            <a:cxnLst/>
            <a:rect r="r" b="b" t="t" l="l"/>
            <a:pathLst>
              <a:path h="4972050" w="5715000">
                <a:moveTo>
                  <a:pt x="0" y="0"/>
                </a:moveTo>
                <a:lnTo>
                  <a:pt x="5715000" y="0"/>
                </a:lnTo>
                <a:lnTo>
                  <a:pt x="5715000" y="4972050"/>
                </a:lnTo>
                <a:lnTo>
                  <a:pt x="0" y="49720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66" t="-1724" r="-2833" b="-172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848600" y="4152900"/>
            <a:ext cx="5286375" cy="552450"/>
          </a:xfrm>
          <a:custGeom>
            <a:avLst/>
            <a:gdLst/>
            <a:ahLst/>
            <a:cxnLst/>
            <a:rect r="r" b="b" t="t" l="l"/>
            <a:pathLst>
              <a:path h="552450" w="5286375">
                <a:moveTo>
                  <a:pt x="0" y="0"/>
                </a:moveTo>
                <a:lnTo>
                  <a:pt x="5286375" y="0"/>
                </a:lnTo>
                <a:lnTo>
                  <a:pt x="5286375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60" t="-15517" r="-2882" b="-1724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546336" y="4339783"/>
            <a:ext cx="1901952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b="true" sz="17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PLATEFORWARD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848600" y="4905375"/>
            <a:ext cx="2743200" cy="3028950"/>
          </a:xfrm>
          <a:custGeom>
            <a:avLst/>
            <a:gdLst/>
            <a:ahLst/>
            <a:cxnLst/>
            <a:rect r="r" b="b" t="t" l="l"/>
            <a:pathLst>
              <a:path h="3028950" w="2743200">
                <a:moveTo>
                  <a:pt x="0" y="0"/>
                </a:moveTo>
                <a:lnTo>
                  <a:pt x="2743200" y="0"/>
                </a:lnTo>
                <a:lnTo>
                  <a:pt x="2743200" y="3028950"/>
                </a:lnTo>
                <a:lnTo>
                  <a:pt x="0" y="3028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94" t="-6289" r="-2777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048625" y="5143500"/>
            <a:ext cx="2190750" cy="2362200"/>
          </a:xfrm>
          <a:custGeom>
            <a:avLst/>
            <a:gdLst/>
            <a:ahLst/>
            <a:cxnLst/>
            <a:rect r="r" b="b" t="t" l="l"/>
            <a:pathLst>
              <a:path h="2362200" w="2190750">
                <a:moveTo>
                  <a:pt x="0" y="0"/>
                </a:moveTo>
                <a:lnTo>
                  <a:pt x="2190750" y="0"/>
                </a:lnTo>
                <a:lnTo>
                  <a:pt x="21907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917936" y="5081659"/>
            <a:ext cx="1426464" cy="23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4"/>
              </a:lnSpc>
            </a:pPr>
            <a:r>
              <a:rPr lang="en-US" sz="1734" b="true">
                <a:solidFill>
                  <a:srgbClr val="4E7F5A"/>
                </a:solidFill>
                <a:latin typeface="Inter Bold"/>
                <a:ea typeface="Inter Bold"/>
                <a:cs typeface="Inter Bold"/>
                <a:sym typeface="Inter Bold"/>
              </a:rPr>
              <a:t>Match Found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17936" y="5526976"/>
            <a:ext cx="151790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557">
                <a:solidFill>
                  <a:srgbClr val="292E32"/>
                </a:solidFill>
                <a:latin typeface="Inter"/>
                <a:ea typeface="Inter"/>
                <a:cs typeface="Inter"/>
                <a:sym typeface="Inter"/>
              </a:rPr>
              <a:t>Delivering hope, not waste.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877550" y="6210300"/>
            <a:ext cx="2409825" cy="866775"/>
          </a:xfrm>
          <a:custGeom>
            <a:avLst/>
            <a:gdLst/>
            <a:ahLst/>
            <a:cxnLst/>
            <a:rect r="r" b="b" t="t" l="l"/>
            <a:pathLst>
              <a:path h="866775" w="2409825">
                <a:moveTo>
                  <a:pt x="0" y="0"/>
                </a:moveTo>
                <a:lnTo>
                  <a:pt x="2409825" y="0"/>
                </a:lnTo>
                <a:lnTo>
                  <a:pt x="2409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877550" y="642937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631168" y="6658546"/>
            <a:ext cx="49377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344">
                <a:solidFill>
                  <a:srgbClr val="292E32"/>
                </a:solidFill>
                <a:latin typeface="Inter"/>
                <a:ea typeface="Inter"/>
                <a:cs typeface="Inter"/>
                <a:sym typeface="Inter"/>
              </a:rPr>
              <a:t>Donor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877550" y="7067550"/>
            <a:ext cx="2409825" cy="866775"/>
          </a:xfrm>
          <a:custGeom>
            <a:avLst/>
            <a:gdLst/>
            <a:ahLst/>
            <a:cxnLst/>
            <a:rect r="r" b="b" t="t" l="l"/>
            <a:pathLst>
              <a:path h="866775" w="2409825">
                <a:moveTo>
                  <a:pt x="0" y="0"/>
                </a:moveTo>
                <a:lnTo>
                  <a:pt x="2409825" y="0"/>
                </a:lnTo>
                <a:lnTo>
                  <a:pt x="2409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877550" y="7286625"/>
            <a:ext cx="666750" cy="428625"/>
          </a:xfrm>
          <a:custGeom>
            <a:avLst/>
            <a:gdLst/>
            <a:ahLst/>
            <a:cxnLst/>
            <a:rect r="r" b="b" t="t" l="l"/>
            <a:pathLst>
              <a:path h="428625" w="666750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631168" y="7316847"/>
            <a:ext cx="768096" cy="18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"/>
              </a:lnSpc>
            </a:pPr>
            <a:r>
              <a:rPr lang="en-US" sz="1415" b="true">
                <a:solidFill>
                  <a:srgbClr val="292E32"/>
                </a:solidFill>
                <a:latin typeface="Inter Bold"/>
                <a:ea typeface="Inter Bold"/>
                <a:cs typeface="Inter Bold"/>
                <a:sym typeface="Inter Bold"/>
              </a:rPr>
              <a:t>Drop-off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7848600" y="8153400"/>
            <a:ext cx="5286375" cy="523875"/>
          </a:xfrm>
          <a:custGeom>
            <a:avLst/>
            <a:gdLst/>
            <a:ahLst/>
            <a:cxnLst/>
            <a:rect r="r" b="b" t="t" l="l"/>
            <a:pathLst>
              <a:path h="523875" w="5286375">
                <a:moveTo>
                  <a:pt x="0" y="0"/>
                </a:moveTo>
                <a:lnTo>
                  <a:pt x="5286375" y="0"/>
                </a:lnTo>
                <a:lnTo>
                  <a:pt x="5286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360" t="-1818" r="-2882" b="-21818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382750" y="4714875"/>
            <a:ext cx="3038475" cy="4238625"/>
          </a:xfrm>
          <a:custGeom>
            <a:avLst/>
            <a:gdLst/>
            <a:ahLst/>
            <a:cxnLst/>
            <a:rect r="r" b="b" t="t" l="l"/>
            <a:pathLst>
              <a:path h="4238625" w="3038475">
                <a:moveTo>
                  <a:pt x="0" y="0"/>
                </a:moveTo>
                <a:lnTo>
                  <a:pt x="3038475" y="0"/>
                </a:lnTo>
                <a:lnTo>
                  <a:pt x="3038475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626" t="0" r="0" b="-1123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573250" y="4895850"/>
            <a:ext cx="2676525" cy="466725"/>
          </a:xfrm>
          <a:custGeom>
            <a:avLst/>
            <a:gdLst/>
            <a:ahLst/>
            <a:cxnLst/>
            <a:rect r="r" b="b" t="t" l="l"/>
            <a:pathLst>
              <a:path h="466725" w="2676525">
                <a:moveTo>
                  <a:pt x="0" y="0"/>
                </a:moveTo>
                <a:lnTo>
                  <a:pt x="2676525" y="0"/>
                </a:lnTo>
                <a:lnTo>
                  <a:pt x="2676525" y="466725"/>
                </a:lnTo>
                <a:lnTo>
                  <a:pt x="0" y="4667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7829" t="-38775" r="-6405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5270480" y="5032544"/>
            <a:ext cx="1261872" cy="21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1"/>
              </a:lnSpc>
            </a:pPr>
            <a:r>
              <a:rPr lang="en-US" b="true" sz="152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COMMUNITY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630400" y="5591904"/>
            <a:ext cx="1865376" cy="21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592" b="true">
                <a:solidFill>
                  <a:srgbClr val="292E32"/>
                </a:solidFill>
                <a:latin typeface="Inter Bold"/>
                <a:ea typeface="Inter Bold"/>
                <a:cs typeface="Inter Bold"/>
                <a:sym typeface="Inter Bold"/>
              </a:rPr>
              <a:t>Hostels &amp; Shelters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30400" y="5877115"/>
            <a:ext cx="212140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8"/>
              </a:lnSpc>
            </a:pPr>
            <a:r>
              <a:rPr lang="en-US" sz="1415">
                <a:solidFill>
                  <a:srgbClr val="292E32"/>
                </a:solidFill>
                <a:latin typeface="Inter"/>
                <a:ea typeface="Inter"/>
                <a:cs typeface="Inter"/>
                <a:sym typeface="Inter"/>
              </a:rPr>
              <a:t>Nourishing those in need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601825" y="6276975"/>
            <a:ext cx="2590800" cy="1752600"/>
          </a:xfrm>
          <a:custGeom>
            <a:avLst/>
            <a:gdLst/>
            <a:ahLst/>
            <a:cxnLst/>
            <a:rect r="r" b="b" t="t" l="l"/>
            <a:pathLst>
              <a:path h="1752600" w="2590800">
                <a:moveTo>
                  <a:pt x="0" y="0"/>
                </a:moveTo>
                <a:lnTo>
                  <a:pt x="2590800" y="0"/>
                </a:lnTo>
                <a:lnTo>
                  <a:pt x="25908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9191" t="-3804" r="-367" b="-6521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4582775" y="8143875"/>
            <a:ext cx="2619375" cy="647700"/>
          </a:xfrm>
          <a:custGeom>
            <a:avLst/>
            <a:gdLst/>
            <a:ahLst/>
            <a:cxnLst/>
            <a:rect r="r" b="b" t="t" l="l"/>
            <a:pathLst>
              <a:path h="647700" w="2619375">
                <a:moveTo>
                  <a:pt x="0" y="0"/>
                </a:moveTo>
                <a:lnTo>
                  <a:pt x="2619375" y="0"/>
                </a:lnTo>
                <a:lnTo>
                  <a:pt x="2619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5160752" y="8380720"/>
            <a:ext cx="1481328" cy="18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0"/>
              </a:lnSpc>
            </a:pPr>
            <a:r>
              <a:rPr lang="en-US" sz="1450" b="true">
                <a:solidFill>
                  <a:srgbClr val="4E7F5A"/>
                </a:solidFill>
                <a:latin typeface="Inter Bold"/>
                <a:ea typeface="Inter Bold"/>
                <a:cs typeface="Inter Bold"/>
                <a:sym typeface="Inter Bold"/>
              </a:rPr>
              <a:t>Lives Nourished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3277850" y="621030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181344" y="9455264"/>
            <a:ext cx="4645152" cy="3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2656" b="true">
                <a:solidFill>
                  <a:srgbClr val="292E32"/>
                </a:solidFill>
                <a:latin typeface="Inter Bold"/>
                <a:ea typeface="Inter Bold"/>
                <a:cs typeface="Inter Bold"/>
                <a:sym typeface="Inter Bold"/>
              </a:rPr>
              <a:t>Turning surplus into smiles.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31168" y="6425740"/>
            <a:ext cx="640080" cy="19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6"/>
              </a:lnSpc>
            </a:pPr>
            <a:r>
              <a:rPr lang="en-US" sz="1486" b="true">
                <a:solidFill>
                  <a:srgbClr val="292E32"/>
                </a:solidFill>
                <a:latin typeface="Inter Bold"/>
                <a:ea typeface="Inter Bold"/>
                <a:cs typeface="Inter Bold"/>
                <a:sym typeface="Inter Bold"/>
              </a:rPr>
              <a:t>Pickup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631168" y="7553516"/>
            <a:ext cx="93268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344">
                <a:solidFill>
                  <a:srgbClr val="292E32"/>
                </a:solidFill>
                <a:latin typeface="Inter"/>
                <a:ea typeface="Inter"/>
                <a:cs typeface="Inter"/>
                <a:sym typeface="Inter"/>
              </a:rPr>
              <a:t>Community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37776" y="8328835"/>
            <a:ext cx="1755648" cy="19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6"/>
              </a:lnSpc>
            </a:pPr>
            <a:r>
              <a:rPr lang="en-US" sz="148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Impact in Progress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37760" y="5036406"/>
            <a:ext cx="749808" cy="21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2"/>
              </a:lnSpc>
            </a:pPr>
            <a:r>
              <a:rPr lang="en-US" b="true" sz="159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DONOR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096512" y="5877115"/>
            <a:ext cx="193852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8"/>
              </a:lnSpc>
            </a:pPr>
            <a:r>
              <a:rPr lang="en-US" sz="1415">
                <a:solidFill>
                  <a:srgbClr val="292E32"/>
                </a:solidFill>
                <a:latin typeface="Inter"/>
                <a:ea typeface="Inter"/>
                <a:cs typeface="Inter"/>
                <a:sym typeface="Inter"/>
              </a:rPr>
              <a:t>Surplus ready to share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91088" y="9464338"/>
            <a:ext cx="1664208" cy="34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1"/>
              </a:lnSpc>
            </a:pPr>
            <a:r>
              <a:rPr lang="en-US" sz="2691" b="true">
                <a:solidFill>
                  <a:srgbClr val="4E7F5A"/>
                </a:solidFill>
                <a:latin typeface="Inter Bold"/>
                <a:ea typeface="Inter Bold"/>
                <a:cs typeface="Inter Bold"/>
                <a:sym typeface="Inter Bold"/>
              </a:rPr>
              <a:t>Together.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487680"/>
            <a:ext cx="557784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0"/>
              </a:lnSpc>
            </a:pPr>
            <a:r>
              <a:rPr lang="en-US" sz="7441" spc="-223" b="true">
                <a:solidFill>
                  <a:srgbClr val="292929"/>
                </a:solidFill>
                <a:latin typeface="Inter Bold"/>
                <a:ea typeface="Inter Bold"/>
                <a:cs typeface="Inter Bold"/>
                <a:sym typeface="Inter Bold"/>
              </a:rPr>
              <a:t>The 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1792" y="1540002"/>
            <a:ext cx="1014984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413" spc="-192">
                <a:solidFill>
                  <a:srgbClr val="292929"/>
                </a:solidFill>
                <a:latin typeface="Inter"/>
                <a:ea typeface="Inter"/>
                <a:cs typeface="Inter"/>
                <a:sym typeface="Inter"/>
              </a:rPr>
              <a:t>Surplus food goes to waste.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1792" y="2759788"/>
            <a:ext cx="7827264" cy="79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266">
                <a:solidFill>
                  <a:srgbClr val="292929"/>
                </a:solidFill>
                <a:latin typeface="Inter"/>
                <a:ea typeface="Inter"/>
                <a:cs typeface="Inter"/>
                <a:sym typeface="Inter"/>
              </a:rPr>
              <a:t>Many surplus food sources exist but lack an efficient way to connect with those in need, leading to food waste.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00075" y="4038600"/>
            <a:ext cx="7677150" cy="4610100"/>
          </a:xfrm>
          <a:custGeom>
            <a:avLst/>
            <a:gdLst/>
            <a:ahLst/>
            <a:cxnLst/>
            <a:rect r="r" b="b" t="t" l="l"/>
            <a:pathLst>
              <a:path h="4610100" w="7677150">
                <a:moveTo>
                  <a:pt x="0" y="0"/>
                </a:moveTo>
                <a:lnTo>
                  <a:pt x="7677150" y="0"/>
                </a:lnTo>
                <a:lnTo>
                  <a:pt x="7677150" y="4610100"/>
                </a:lnTo>
                <a:lnTo>
                  <a:pt x="0" y="4610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3" t="-3925" r="0" b="-309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79776" y="4343777"/>
            <a:ext cx="3218688" cy="43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b="true" sz="2549">
                <a:solidFill>
                  <a:srgbClr val="D14927"/>
                </a:solidFill>
                <a:latin typeface="Inter Bold"/>
                <a:ea typeface="Inter Bold"/>
                <a:cs typeface="Inter Bold"/>
                <a:sym typeface="Inter Bold"/>
              </a:rPr>
              <a:t>THE CURRENT GAP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6775" y="578167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80160" y="6427470"/>
            <a:ext cx="10972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b="true" sz="2407" spc="-72">
                <a:solidFill>
                  <a:srgbClr val="292929"/>
                </a:solidFill>
                <a:latin typeface="Inter Bold"/>
                <a:ea typeface="Inter Bold"/>
                <a:cs typeface="Inter Bold"/>
                <a:sym typeface="Inter Bold"/>
              </a:rPr>
              <a:t>Surplus</a:t>
            </a:r>
          </a:p>
          <a:p>
            <a:pPr algn="ctr">
              <a:lnSpc>
                <a:spcPts val="2889"/>
              </a:lnSpc>
            </a:pPr>
            <a:r>
              <a:rPr lang="en-US" b="true" sz="2407" spc="-72">
                <a:solidFill>
                  <a:srgbClr val="292929"/>
                </a:solidFill>
                <a:latin typeface="Inter Bold"/>
                <a:ea typeface="Inter Bold"/>
                <a:cs typeface="Inter Bold"/>
                <a:sym typeface="Inter Bold"/>
              </a:rPr>
              <a:t>Food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609850" y="64293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76625" y="5781675"/>
            <a:ext cx="1971675" cy="1933575"/>
          </a:xfrm>
          <a:custGeom>
            <a:avLst/>
            <a:gdLst/>
            <a:ahLst/>
            <a:cxnLst/>
            <a:rect r="r" b="b" t="t" l="l"/>
            <a:pathLst>
              <a:path h="1933575" w="19716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58768" y="6427470"/>
            <a:ext cx="122529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</a:pPr>
            <a:r>
              <a:rPr lang="en-US" b="true" sz="2337" spc="-70">
                <a:solidFill>
                  <a:srgbClr val="292929"/>
                </a:solidFill>
                <a:latin typeface="Inter Bold"/>
                <a:ea typeface="Inter Bold"/>
                <a:cs typeface="Inter Bold"/>
                <a:sym typeface="Inter Bold"/>
              </a:rPr>
              <a:t>No</a:t>
            </a:r>
          </a:p>
          <a:p>
            <a:pPr algn="ctr">
              <a:lnSpc>
                <a:spcPts val="2804"/>
              </a:lnSpc>
            </a:pPr>
            <a:r>
              <a:rPr lang="en-US" b="true" sz="2337" spc="-70">
                <a:solidFill>
                  <a:srgbClr val="292929"/>
                </a:solidFill>
                <a:latin typeface="Inter Bold"/>
                <a:ea typeface="Inter Bold"/>
                <a:cs typeface="Inter Bold"/>
                <a:sym typeface="Inter Bold"/>
              </a:rPr>
              <a:t>Receiver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438775" y="64293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96000" y="5781675"/>
            <a:ext cx="1962150" cy="1933575"/>
          </a:xfrm>
          <a:custGeom>
            <a:avLst/>
            <a:gdLst/>
            <a:ahLst/>
            <a:cxnLst/>
            <a:rect r="r" b="b" t="t" l="l"/>
            <a:pathLst>
              <a:path h="1933575" w="1962150">
                <a:moveTo>
                  <a:pt x="0" y="0"/>
                </a:moveTo>
                <a:lnTo>
                  <a:pt x="1962150" y="0"/>
                </a:lnTo>
                <a:lnTo>
                  <a:pt x="19621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75120" y="6593014"/>
            <a:ext cx="93268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b="true" sz="2407" spc="-72">
                <a:solidFill>
                  <a:srgbClr val="292929"/>
                </a:solidFill>
                <a:latin typeface="Inter Bold"/>
                <a:ea typeface="Inter Bold"/>
                <a:cs typeface="Inter Bold"/>
                <a:sym typeface="Inter Bold"/>
              </a:rPr>
              <a:t>Waste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171700" y="4924425"/>
            <a:ext cx="4362450" cy="3648075"/>
          </a:xfrm>
          <a:custGeom>
            <a:avLst/>
            <a:gdLst/>
            <a:ahLst/>
            <a:cxnLst/>
            <a:rect r="r" b="b" t="t" l="l"/>
            <a:pathLst>
              <a:path h="3648075" w="4362450">
                <a:moveTo>
                  <a:pt x="0" y="0"/>
                </a:moveTo>
                <a:lnTo>
                  <a:pt x="4362450" y="0"/>
                </a:lnTo>
                <a:lnTo>
                  <a:pt x="43624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127248" y="8804456"/>
            <a:ext cx="2651760" cy="86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 b="true">
                <a:solidFill>
                  <a:srgbClr val="D14927"/>
                </a:solidFill>
                <a:latin typeface="Inter Bold"/>
                <a:ea typeface="Inter Bold"/>
                <a:cs typeface="Inter Bold"/>
                <a:sym typeface="Inter Bold"/>
              </a:rPr>
              <a:t>Food is lost.</a:t>
            </a:r>
          </a:p>
          <a:p>
            <a:pPr algn="ctr">
              <a:lnSpc>
                <a:spcPts val="3519"/>
              </a:lnSpc>
            </a:pPr>
            <a:r>
              <a:rPr lang="en-US" sz="2514" b="true">
                <a:solidFill>
                  <a:srgbClr val="D14927"/>
                </a:solidFill>
                <a:latin typeface="Inter Bold"/>
                <a:ea typeface="Inter Bold"/>
                <a:cs typeface="Inter Bold"/>
                <a:sym typeface="Inter Bold"/>
              </a:rPr>
              <a:t>Needs go unmet.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705850" y="4067175"/>
            <a:ext cx="228600" cy="5362575"/>
          </a:xfrm>
          <a:custGeom>
            <a:avLst/>
            <a:gdLst/>
            <a:ahLst/>
            <a:cxnLst/>
            <a:rect r="r" b="b" t="t" l="l"/>
            <a:pathLst>
              <a:path h="5362575" w="228600">
                <a:moveTo>
                  <a:pt x="0" y="0"/>
                </a:moveTo>
                <a:lnTo>
                  <a:pt x="228600" y="0"/>
                </a:lnTo>
                <a:lnTo>
                  <a:pt x="228600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267825" y="4038600"/>
            <a:ext cx="8305800" cy="4610100"/>
          </a:xfrm>
          <a:custGeom>
            <a:avLst/>
            <a:gdLst/>
            <a:ahLst/>
            <a:cxnLst/>
            <a:rect r="r" b="b" t="t" l="l"/>
            <a:pathLst>
              <a:path h="4610100" w="8305800">
                <a:moveTo>
                  <a:pt x="0" y="0"/>
                </a:moveTo>
                <a:lnTo>
                  <a:pt x="8305800" y="0"/>
                </a:lnTo>
                <a:lnTo>
                  <a:pt x="8305800" y="4610100"/>
                </a:lnTo>
                <a:lnTo>
                  <a:pt x="0" y="46101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90" t="-3925" r="-802" b="-3099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680192" y="4343777"/>
            <a:ext cx="5449824" cy="43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b="true" sz="2549">
                <a:solidFill>
                  <a:srgbClr val="4B8B58"/>
                </a:solidFill>
                <a:latin typeface="Inter Bold"/>
                <a:ea typeface="Inter Bold"/>
                <a:cs typeface="Inter Bold"/>
                <a:sym typeface="Inter Bold"/>
              </a:rPr>
              <a:t>THE PLATEFORWARD SOLUTION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572625" y="5972175"/>
            <a:ext cx="1809750" cy="1609725"/>
          </a:xfrm>
          <a:custGeom>
            <a:avLst/>
            <a:gdLst/>
            <a:ahLst/>
            <a:cxnLst/>
            <a:rect r="r" b="b" t="t" l="l"/>
            <a:pathLst>
              <a:path h="1609725" w="1809750">
                <a:moveTo>
                  <a:pt x="0" y="0"/>
                </a:moveTo>
                <a:lnTo>
                  <a:pt x="1809750" y="0"/>
                </a:lnTo>
                <a:lnTo>
                  <a:pt x="1809750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1834" r="-8947" b="-828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930384" y="6427470"/>
            <a:ext cx="109728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b="true" sz="2407" spc="-72">
                <a:solidFill>
                  <a:srgbClr val="292929"/>
                </a:solidFill>
                <a:latin typeface="Inter Bold"/>
                <a:ea typeface="Inter Bold"/>
                <a:cs typeface="Inter Bold"/>
                <a:sym typeface="Inter Bold"/>
              </a:rPr>
              <a:t>Surplus</a:t>
            </a:r>
          </a:p>
          <a:p>
            <a:pPr algn="ctr">
              <a:lnSpc>
                <a:spcPts val="2889"/>
              </a:lnSpc>
            </a:pPr>
            <a:r>
              <a:rPr lang="en-US" b="true" sz="2407" spc="-72">
                <a:solidFill>
                  <a:srgbClr val="292929"/>
                </a:solidFill>
                <a:latin typeface="Inter Bold"/>
                <a:ea typeface="Inter Bold"/>
                <a:cs typeface="Inter Bold"/>
                <a:sym typeface="Inter Bold"/>
              </a:rPr>
              <a:t>Food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315700" y="64293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277725" y="5972175"/>
            <a:ext cx="2162175" cy="1609725"/>
          </a:xfrm>
          <a:custGeom>
            <a:avLst/>
            <a:gdLst/>
            <a:ahLst/>
            <a:cxnLst/>
            <a:rect r="r" b="b" t="t" l="l"/>
            <a:pathLst>
              <a:path h="1609725" w="2162175">
                <a:moveTo>
                  <a:pt x="0" y="0"/>
                </a:moveTo>
                <a:lnTo>
                  <a:pt x="2162175" y="0"/>
                </a:lnTo>
                <a:lnTo>
                  <a:pt x="2162175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3964" t="-11834" r="-7048" b="-8284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417552" y="6588252"/>
            <a:ext cx="188366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b="true" sz="2372" spc="-7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PlateForward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363700" y="64293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325725" y="5972175"/>
            <a:ext cx="1924050" cy="1609725"/>
          </a:xfrm>
          <a:custGeom>
            <a:avLst/>
            <a:gdLst/>
            <a:ahLst/>
            <a:cxnLst/>
            <a:rect r="r" b="b" t="t" l="l"/>
            <a:pathLst>
              <a:path h="1609725" w="1924050">
                <a:moveTo>
                  <a:pt x="0" y="0"/>
                </a:moveTo>
                <a:lnTo>
                  <a:pt x="1924050" y="0"/>
                </a:lnTo>
                <a:lnTo>
                  <a:pt x="1924050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4455" t="-11834" r="-8910" b="-8284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471648" y="6588252"/>
            <a:ext cx="16459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b="true" sz="2372" spc="-71">
                <a:solidFill>
                  <a:srgbClr val="292929"/>
                </a:solidFill>
                <a:latin typeface="Inter Bold"/>
                <a:ea typeface="Inter Bold"/>
                <a:cs typeface="Inter Bold"/>
                <a:sym typeface="Inter Bold"/>
              </a:rPr>
              <a:t>Community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5449550" y="6858000"/>
            <a:ext cx="2409825" cy="2143125"/>
          </a:xfrm>
          <a:custGeom>
            <a:avLst/>
            <a:gdLst/>
            <a:ahLst/>
            <a:cxnLst/>
            <a:rect r="r" b="b" t="t" l="l"/>
            <a:pathLst>
              <a:path h="2143125" w="2409825">
                <a:moveTo>
                  <a:pt x="0" y="0"/>
                </a:moveTo>
                <a:lnTo>
                  <a:pt x="2409825" y="0"/>
                </a:lnTo>
                <a:lnTo>
                  <a:pt x="24098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082528" y="8804456"/>
            <a:ext cx="4462272" cy="86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4" b="true">
                <a:solidFill>
                  <a:srgbClr val="4B8B58"/>
                </a:solidFill>
                <a:latin typeface="Inter Bold"/>
                <a:ea typeface="Inter Bold"/>
                <a:cs typeface="Inter Bold"/>
                <a:sym typeface="Inter Bold"/>
              </a:rPr>
              <a:t>Food is rescued.</a:t>
            </a:r>
          </a:p>
          <a:p>
            <a:pPr algn="ctr">
              <a:lnSpc>
                <a:spcPts val="3519"/>
              </a:lnSpc>
            </a:pPr>
            <a:r>
              <a:rPr lang="en-US" sz="2514" b="true">
                <a:solidFill>
                  <a:srgbClr val="4B8B58"/>
                </a:solidFill>
                <a:latin typeface="Inter Bold"/>
                <a:ea typeface="Inter Bold"/>
                <a:cs typeface="Inter Bold"/>
                <a:sym typeface="Inter Bold"/>
              </a:rPr>
              <a:t>Communities are nourished.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777621"/>
            <a:ext cx="5907024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5"/>
              </a:lnSpc>
            </a:pPr>
            <a:r>
              <a:rPr lang="en-US" sz="7796" spc="-155" b="true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The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4944" y="2261924"/>
            <a:ext cx="8119872" cy="860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 spc="-50" b="true">
                <a:solidFill>
                  <a:srgbClr val="404040"/>
                </a:solidFill>
                <a:latin typeface="Inter Medium"/>
                <a:ea typeface="Inter Medium"/>
                <a:cs typeface="Inter Medium"/>
                <a:sym typeface="Inter Medium"/>
              </a:rPr>
              <a:t>PlateForward makes food rescue simple by connecting</a:t>
            </a:r>
          </a:p>
          <a:p>
            <a:pPr algn="l">
              <a:lnSpc>
                <a:spcPts val="3519"/>
              </a:lnSpc>
            </a:pPr>
            <a:r>
              <a:rPr lang="en-US" sz="2514" spc="-50" b="true">
                <a:solidFill>
                  <a:srgbClr val="404040"/>
                </a:solidFill>
                <a:latin typeface="Inter Medium"/>
                <a:ea typeface="Inter Medium"/>
                <a:cs typeface="Inter Medium"/>
                <a:sym typeface="Inter Medium"/>
              </a:rPr>
              <a:t>those with surplus to those who need it most.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3714750"/>
            <a:ext cx="3009900" cy="4429125"/>
          </a:xfrm>
          <a:custGeom>
            <a:avLst/>
            <a:gdLst/>
            <a:ahLst/>
            <a:cxnLst/>
            <a:rect r="r" b="b" t="t" l="l"/>
            <a:pathLst>
              <a:path h="4429125" w="3009900">
                <a:moveTo>
                  <a:pt x="0" y="0"/>
                </a:moveTo>
                <a:lnTo>
                  <a:pt x="3009900" y="0"/>
                </a:lnTo>
                <a:lnTo>
                  <a:pt x="3009900" y="4429125"/>
                </a:lnTo>
                <a:lnTo>
                  <a:pt x="0" y="4429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20" r="-158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7800" y="4067175"/>
            <a:ext cx="1409700" cy="1381125"/>
          </a:xfrm>
          <a:custGeom>
            <a:avLst/>
            <a:gdLst/>
            <a:ahLst/>
            <a:cxnLst/>
            <a:rect r="r" b="b" t="t" l="l"/>
            <a:pathLst>
              <a:path h="1381125" w="1409700">
                <a:moveTo>
                  <a:pt x="0" y="0"/>
                </a:moveTo>
                <a:lnTo>
                  <a:pt x="1409700" y="0"/>
                </a:lnTo>
                <a:lnTo>
                  <a:pt x="1409700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35" t="-15172" r="-13513" b="-896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2224" y="4427030"/>
            <a:ext cx="694944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4"/>
              </a:lnSpc>
            </a:pPr>
            <a:r>
              <a:rPr lang="en-US" b="true" sz="4853" spc="-97">
                <a:solidFill>
                  <a:srgbClr val="E66635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3040" y="5794629"/>
            <a:ext cx="135331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</a:pPr>
            <a:r>
              <a:rPr lang="en-US" b="true" sz="2230" spc="-44">
                <a:solidFill>
                  <a:srgbClr val="E66635"/>
                </a:solidFill>
                <a:latin typeface="Inter Bold"/>
                <a:ea typeface="Inter Bold"/>
                <a:cs typeface="Inter Bold"/>
                <a:sym typeface="Inter Bold"/>
              </a:rPr>
              <a:t>Post Food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5840" y="6329100"/>
            <a:ext cx="2304288" cy="109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b="true" sz="2124" spc="-42">
                <a:solidFill>
                  <a:srgbClr val="404040"/>
                </a:solidFill>
                <a:latin typeface="Inter Medium"/>
                <a:ea typeface="Inter Medium"/>
                <a:cs typeface="Inter Medium"/>
                <a:sym typeface="Inter Medium"/>
              </a:rPr>
              <a:t>Food providers post surplus details in seconds.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105275" y="3714750"/>
            <a:ext cx="3000375" cy="4429125"/>
          </a:xfrm>
          <a:custGeom>
            <a:avLst/>
            <a:gdLst/>
            <a:ahLst/>
            <a:cxnLst/>
            <a:rect r="r" b="b" t="t" l="l"/>
            <a:pathLst>
              <a:path h="4429125" w="3000375">
                <a:moveTo>
                  <a:pt x="0" y="0"/>
                </a:moveTo>
                <a:lnTo>
                  <a:pt x="3000375" y="0"/>
                </a:lnTo>
                <a:lnTo>
                  <a:pt x="3000375" y="4429125"/>
                </a:lnTo>
                <a:lnTo>
                  <a:pt x="0" y="4429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49" t="-1720" r="-2857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95850" y="4067175"/>
            <a:ext cx="1409700" cy="1381125"/>
          </a:xfrm>
          <a:custGeom>
            <a:avLst/>
            <a:gdLst/>
            <a:ahLst/>
            <a:cxnLst/>
            <a:rect r="r" b="b" t="t" l="l"/>
            <a:pathLst>
              <a:path h="1381125" w="1409700">
                <a:moveTo>
                  <a:pt x="0" y="0"/>
                </a:moveTo>
                <a:lnTo>
                  <a:pt x="1409700" y="0"/>
                </a:lnTo>
                <a:lnTo>
                  <a:pt x="1409700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08" t="-15172" r="-675" b="-896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175504" y="4403217"/>
            <a:ext cx="84124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7"/>
              </a:lnSpc>
            </a:pPr>
            <a:r>
              <a:rPr lang="en-US" b="true" sz="5172" spc="-103">
                <a:solidFill>
                  <a:srgbClr val="E66635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74336" y="5789867"/>
            <a:ext cx="12435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b="true" sz="2301" spc="-46">
                <a:solidFill>
                  <a:srgbClr val="E66635"/>
                </a:solidFill>
                <a:latin typeface="Inter Bold"/>
                <a:ea typeface="Inter Bold"/>
                <a:cs typeface="Inter Bold"/>
                <a:sym typeface="Inter Bold"/>
              </a:rPr>
              <a:t>Discover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2000" y="6360186"/>
            <a:ext cx="2048256" cy="102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5"/>
              </a:lnSpc>
            </a:pPr>
            <a:r>
              <a:rPr lang="en-US" b="true" sz="1947" spc="-38">
                <a:solidFill>
                  <a:srgbClr val="404040"/>
                </a:solidFill>
                <a:latin typeface="Inter Medium"/>
                <a:ea typeface="Inter Medium"/>
                <a:cs typeface="Inter Medium"/>
                <a:sym typeface="Inter Medium"/>
              </a:rPr>
              <a:t>Nearby receivers discover available food in real time.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562850" y="3714750"/>
            <a:ext cx="2971800" cy="4429125"/>
          </a:xfrm>
          <a:custGeom>
            <a:avLst/>
            <a:gdLst/>
            <a:ahLst/>
            <a:cxnLst/>
            <a:rect r="r" b="b" t="t" l="l"/>
            <a:pathLst>
              <a:path h="4429125" w="2971800">
                <a:moveTo>
                  <a:pt x="0" y="0"/>
                </a:moveTo>
                <a:lnTo>
                  <a:pt x="2971800" y="0"/>
                </a:lnTo>
                <a:lnTo>
                  <a:pt x="2971800" y="4429125"/>
                </a:lnTo>
                <a:lnTo>
                  <a:pt x="0" y="4429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448" t="-1720" r="-4487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43900" y="4067175"/>
            <a:ext cx="1400175" cy="1381125"/>
          </a:xfrm>
          <a:custGeom>
            <a:avLst/>
            <a:gdLst/>
            <a:ahLst/>
            <a:cxnLst/>
            <a:rect r="r" b="b" t="t" l="l"/>
            <a:pathLst>
              <a:path h="1381125" w="1400175">
                <a:moveTo>
                  <a:pt x="0" y="0"/>
                </a:moveTo>
                <a:lnTo>
                  <a:pt x="1400175" y="0"/>
                </a:lnTo>
                <a:lnTo>
                  <a:pt x="1400175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442" t="-15172" r="-4081" b="-896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613648" y="4417505"/>
            <a:ext cx="84124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9"/>
              </a:lnSpc>
            </a:pPr>
            <a:r>
              <a:rPr lang="en-US" b="true" sz="5066" spc="-101">
                <a:solidFill>
                  <a:srgbClr val="E66635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50224" y="5789867"/>
            <a:ext cx="7863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b="true" sz="2301" spc="-46">
                <a:solidFill>
                  <a:srgbClr val="E66635"/>
                </a:solidFill>
                <a:latin typeface="Inter Bold"/>
                <a:ea typeface="Inter Bold"/>
                <a:cs typeface="Inter Bold"/>
                <a:sym typeface="Inter Bold"/>
              </a:rPr>
              <a:t>Claim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00416" y="6342937"/>
            <a:ext cx="2304288" cy="107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b="true" sz="2088" spc="-41">
                <a:solidFill>
                  <a:srgbClr val="404040"/>
                </a:solidFill>
                <a:latin typeface="Inter Medium"/>
                <a:ea typeface="Inter Medium"/>
                <a:cs typeface="Inter Medium"/>
                <a:sym typeface="Inter Medium"/>
              </a:rPr>
              <a:t>Interested receivers claim what they can use.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001375" y="3714750"/>
            <a:ext cx="2933700" cy="4429125"/>
          </a:xfrm>
          <a:custGeom>
            <a:avLst/>
            <a:gdLst/>
            <a:ahLst/>
            <a:cxnLst/>
            <a:rect r="r" b="b" t="t" l="l"/>
            <a:pathLst>
              <a:path h="4429125" w="2933700">
                <a:moveTo>
                  <a:pt x="0" y="0"/>
                </a:moveTo>
                <a:lnTo>
                  <a:pt x="2933700" y="0"/>
                </a:lnTo>
                <a:lnTo>
                  <a:pt x="2933700" y="4429125"/>
                </a:lnTo>
                <a:lnTo>
                  <a:pt x="0" y="4429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220" t="-172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782425" y="4067175"/>
            <a:ext cx="1400175" cy="1381125"/>
          </a:xfrm>
          <a:custGeom>
            <a:avLst/>
            <a:gdLst/>
            <a:ahLst/>
            <a:cxnLst/>
            <a:rect r="r" b="b" t="t" l="l"/>
            <a:pathLst>
              <a:path h="1381125" w="1400175">
                <a:moveTo>
                  <a:pt x="0" y="0"/>
                </a:moveTo>
                <a:lnTo>
                  <a:pt x="1400175" y="0"/>
                </a:lnTo>
                <a:lnTo>
                  <a:pt x="1400175" y="1381125"/>
                </a:lnTo>
                <a:lnTo>
                  <a:pt x="0" y="1381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040" t="-15172" r="-7482" b="-8965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033504" y="4427029"/>
            <a:ext cx="84124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4"/>
              </a:lnSpc>
            </a:pPr>
            <a:r>
              <a:rPr lang="en-US" b="true" sz="4995" spc="-99">
                <a:solidFill>
                  <a:srgbClr val="639D60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92256" y="5789867"/>
            <a:ext cx="25603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b="true" sz="2301" spc="-46">
                <a:solidFill>
                  <a:srgbClr val="639D60"/>
                </a:solidFill>
                <a:latin typeface="Inter Bold"/>
                <a:ea typeface="Inter Bold"/>
                <a:cs typeface="Inter Bold"/>
                <a:sym typeface="Inter Bold"/>
              </a:rPr>
              <a:t>Coordinate Pickup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75136" y="6342937"/>
            <a:ext cx="2194560" cy="107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b="true" sz="2088" spc="-41">
                <a:solidFill>
                  <a:srgbClr val="404040"/>
                </a:solidFill>
                <a:latin typeface="Inter Medium"/>
                <a:ea typeface="Inter Medium"/>
                <a:cs typeface="Inter Medium"/>
                <a:sym typeface="Inter Medium"/>
              </a:rPr>
              <a:t>Both sides confirm pickup time and location.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439900" y="3714750"/>
            <a:ext cx="2981325" cy="4429125"/>
          </a:xfrm>
          <a:custGeom>
            <a:avLst/>
            <a:gdLst/>
            <a:ahLst/>
            <a:cxnLst/>
            <a:rect r="r" b="b" t="t" l="l"/>
            <a:pathLst>
              <a:path h="4429125" w="2981325">
                <a:moveTo>
                  <a:pt x="0" y="0"/>
                </a:moveTo>
                <a:lnTo>
                  <a:pt x="2981325" y="0"/>
                </a:lnTo>
                <a:lnTo>
                  <a:pt x="2981325" y="4429125"/>
                </a:lnTo>
                <a:lnTo>
                  <a:pt x="0" y="4429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555" t="-172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220950" y="4067175"/>
            <a:ext cx="1419225" cy="1390650"/>
          </a:xfrm>
          <a:custGeom>
            <a:avLst/>
            <a:gdLst/>
            <a:ahLst/>
            <a:cxnLst/>
            <a:rect r="r" b="b" t="t" l="l"/>
            <a:pathLst>
              <a:path h="1390650" w="1419225">
                <a:moveTo>
                  <a:pt x="0" y="0"/>
                </a:moveTo>
                <a:lnTo>
                  <a:pt x="1419225" y="0"/>
                </a:lnTo>
                <a:lnTo>
                  <a:pt x="1419225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4093" t="-15068" r="-8724" b="-8219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489936" y="4407980"/>
            <a:ext cx="84124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2"/>
              </a:lnSpc>
            </a:pPr>
            <a:r>
              <a:rPr lang="en-US" b="true" sz="5102" spc="-102">
                <a:solidFill>
                  <a:srgbClr val="639D60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069312" y="5789867"/>
            <a:ext cx="171907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1"/>
              </a:lnSpc>
            </a:pPr>
            <a:r>
              <a:rPr lang="en-US" b="true" sz="2301" spc="-46">
                <a:solidFill>
                  <a:srgbClr val="639D60"/>
                </a:solidFill>
                <a:latin typeface="Inter Bold"/>
                <a:ea typeface="Inter Bold"/>
                <a:cs typeface="Inter Bold"/>
                <a:sym typeface="Inter Bold"/>
              </a:rPr>
              <a:t>Redistribute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48688" y="6355874"/>
            <a:ext cx="2560320" cy="104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b="true" sz="1982" spc="-39">
                <a:solidFill>
                  <a:srgbClr val="404040"/>
                </a:solidFill>
                <a:latin typeface="Inter Medium"/>
                <a:ea typeface="Inter Medium"/>
                <a:cs typeface="Inter Medium"/>
                <a:sym typeface="Inter Medium"/>
              </a:rPr>
              <a:t>Food reaches those</a:t>
            </a:r>
          </a:p>
          <a:p>
            <a:pPr algn="ctr">
              <a:lnSpc>
                <a:spcPts val="2775"/>
              </a:lnSpc>
            </a:pPr>
            <a:r>
              <a:rPr lang="en-US" b="true" sz="1982" spc="-39">
                <a:solidFill>
                  <a:srgbClr val="404040"/>
                </a:solidFill>
                <a:latin typeface="Inter Medium"/>
                <a:ea typeface="Inter Medium"/>
                <a:cs typeface="Inter Medium"/>
                <a:sym typeface="Inter Medium"/>
              </a:rPr>
              <a:t>in need and nourishes the community.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3476625" y="492442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962775" y="492442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448925" y="492442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925550" y="4924425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493008" y="8887587"/>
            <a:ext cx="1130198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b="true" sz="3187" spc="-6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One platform. </a:t>
            </a:r>
            <a:r>
              <a:rPr lang="en-US" b="true" sz="3187" spc="-63">
                <a:solidFill>
                  <a:srgbClr val="E66635"/>
                </a:solidFill>
                <a:latin typeface="Inter Bold"/>
                <a:ea typeface="Inter Bold"/>
                <a:cs typeface="Inter Bold"/>
                <a:sym typeface="Inter Bold"/>
              </a:rPr>
              <a:t>Five simple steps.</a:t>
            </a:r>
            <a:r>
              <a:rPr lang="en-US" b="true" sz="3187" spc="-63">
                <a:solidFill>
                  <a:srgbClr val="40404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3187" spc="-63">
                <a:solidFill>
                  <a:srgbClr val="639D60"/>
                </a:solidFill>
                <a:latin typeface="Inter Bold"/>
                <a:ea typeface="Inter Bold"/>
                <a:cs typeface="Inter Bold"/>
                <a:sym typeface="Inter Bold"/>
              </a:rPr>
              <a:t>Countless lives nourished.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763294"/>
            <a:ext cx="9875520" cy="991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7548" spc="-226" b="true">
                <a:solidFill>
                  <a:srgbClr val="171717"/>
                </a:solidFill>
                <a:latin typeface="Inter Bold"/>
                <a:ea typeface="Inter Bold"/>
                <a:cs typeface="Inter Bold"/>
                <a:sym typeface="Inter Bold"/>
              </a:rPr>
              <a:t>Frontend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3232" y="1888717"/>
            <a:ext cx="7936992" cy="82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A lightweight, responsive frontend built for clarity today — ready to connect to real services tomorrow.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3209925"/>
            <a:ext cx="3057525" cy="3867150"/>
          </a:xfrm>
          <a:custGeom>
            <a:avLst/>
            <a:gdLst/>
            <a:ahLst/>
            <a:cxnLst/>
            <a:rect r="r" b="b" t="t" l="l"/>
            <a:pathLst>
              <a:path h="3867150" w="3057525">
                <a:moveTo>
                  <a:pt x="0" y="0"/>
                </a:moveTo>
                <a:lnTo>
                  <a:pt x="3057525" y="0"/>
                </a:lnTo>
                <a:lnTo>
                  <a:pt x="30575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3550" y="3857625"/>
            <a:ext cx="1104900" cy="857250"/>
          </a:xfrm>
          <a:custGeom>
            <a:avLst/>
            <a:gdLst/>
            <a:ahLst/>
            <a:cxnLst/>
            <a:rect r="r" b="b" t="t" l="l"/>
            <a:pathLst>
              <a:path h="857250" w="1104900">
                <a:moveTo>
                  <a:pt x="0" y="0"/>
                </a:moveTo>
                <a:lnTo>
                  <a:pt x="1104900" y="0"/>
                </a:lnTo>
                <a:lnTo>
                  <a:pt x="11049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55648" y="5217020"/>
            <a:ext cx="950976" cy="35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b="true" sz="2656" spc="-79">
                <a:solidFill>
                  <a:srgbClr val="D87945"/>
                </a:solidFill>
                <a:latin typeface="Inter Bold"/>
                <a:ea typeface="Inter Bold"/>
                <a:cs typeface="Inter Bold"/>
                <a:sym typeface="Inter Bold"/>
              </a:rPr>
              <a:t>HTML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9616" y="5775836"/>
            <a:ext cx="1444752" cy="62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Structure and content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476625" y="4924425"/>
            <a:ext cx="885825" cy="438150"/>
          </a:xfrm>
          <a:custGeom>
            <a:avLst/>
            <a:gdLst/>
            <a:ahLst/>
            <a:cxnLst/>
            <a:rect r="r" b="b" t="t" l="l"/>
            <a:pathLst>
              <a:path h="438150" w="885825">
                <a:moveTo>
                  <a:pt x="0" y="0"/>
                </a:moveTo>
                <a:lnTo>
                  <a:pt x="885825" y="0"/>
                </a:lnTo>
                <a:lnTo>
                  <a:pt x="8858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33850" y="3209925"/>
            <a:ext cx="3057525" cy="3867150"/>
          </a:xfrm>
          <a:custGeom>
            <a:avLst/>
            <a:gdLst/>
            <a:ahLst/>
            <a:cxnLst/>
            <a:rect r="r" b="b" t="t" l="l"/>
            <a:pathLst>
              <a:path h="3867150" w="3057525">
                <a:moveTo>
                  <a:pt x="0" y="0"/>
                </a:moveTo>
                <a:lnTo>
                  <a:pt x="3057525" y="0"/>
                </a:lnTo>
                <a:lnTo>
                  <a:pt x="30575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19700" y="3857625"/>
            <a:ext cx="876300" cy="857250"/>
          </a:xfrm>
          <a:custGeom>
            <a:avLst/>
            <a:gdLst/>
            <a:ahLst/>
            <a:cxnLst/>
            <a:rect r="r" b="b" t="t" l="l"/>
            <a:pathLst>
              <a:path h="857250" w="87630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40096" y="5222232"/>
            <a:ext cx="658368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b="true" sz="2620" spc="-78">
                <a:solidFill>
                  <a:srgbClr val="D87945"/>
                </a:solidFill>
                <a:latin typeface="Inter Bold"/>
                <a:ea typeface="Inter Bold"/>
                <a:cs typeface="Inter Bold"/>
                <a:sym typeface="Inter Bold"/>
              </a:rPr>
              <a:t>CSS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46320" y="5784461"/>
            <a:ext cx="1645920" cy="60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Reusable styles and layout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962775" y="49244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620000" y="3209925"/>
            <a:ext cx="3048000" cy="3867150"/>
          </a:xfrm>
          <a:custGeom>
            <a:avLst/>
            <a:gdLst/>
            <a:ahLst/>
            <a:cxnLst/>
            <a:rect r="r" b="b" t="t" l="l"/>
            <a:pathLst>
              <a:path h="3867150" w="3048000">
                <a:moveTo>
                  <a:pt x="0" y="0"/>
                </a:moveTo>
                <a:lnTo>
                  <a:pt x="3048000" y="0"/>
                </a:lnTo>
                <a:lnTo>
                  <a:pt x="30480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759952" y="3972435"/>
            <a:ext cx="731520" cy="65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4"/>
              </a:lnSpc>
            </a:pPr>
            <a:r>
              <a:rPr lang="en-US" b="true" sz="4924" spc="-147">
                <a:solidFill>
                  <a:srgbClr val="D87945"/>
                </a:solidFill>
                <a:latin typeface="Inter Bold"/>
                <a:ea typeface="Inter Bold"/>
                <a:cs typeface="Inter Bold"/>
                <a:sym typeface="Inter Bold"/>
              </a:rPr>
              <a:t>JS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02752" y="5222232"/>
            <a:ext cx="1664208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b="true" sz="2620" spc="-78">
                <a:solidFill>
                  <a:srgbClr val="D87945"/>
                </a:solidFill>
                <a:latin typeface="Inter Bold"/>
                <a:ea typeface="Inter Bold"/>
                <a:cs typeface="Inter Bold"/>
                <a:sym typeface="Inter Bold"/>
              </a:rPr>
              <a:t>JavaScript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93024" y="5803061"/>
            <a:ext cx="1847088" cy="57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1698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Interactions and dynamic behavior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448925" y="49244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877550" y="3209925"/>
            <a:ext cx="3276600" cy="3867150"/>
          </a:xfrm>
          <a:custGeom>
            <a:avLst/>
            <a:gdLst/>
            <a:ahLst/>
            <a:cxnLst/>
            <a:rect r="r" b="b" t="t" l="l"/>
            <a:pathLst>
              <a:path h="3867150" w="3276600">
                <a:moveTo>
                  <a:pt x="0" y="0"/>
                </a:moveTo>
                <a:lnTo>
                  <a:pt x="3276600" y="0"/>
                </a:lnTo>
                <a:lnTo>
                  <a:pt x="32766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92000" y="3638550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503152" y="4935856"/>
            <a:ext cx="2103120" cy="59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b="true" sz="2159" spc="-64">
                <a:solidFill>
                  <a:srgbClr val="4B6D43"/>
                </a:solidFill>
                <a:latin typeface="Inter Bold"/>
                <a:ea typeface="Inter Bold"/>
                <a:cs typeface="Inter Bold"/>
                <a:sym typeface="Inter Bold"/>
              </a:rPr>
              <a:t>LocalStorage / Application 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67744" y="5778122"/>
            <a:ext cx="1755648" cy="93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Client-side state and data simulation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925550" y="49244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363700" y="3209925"/>
            <a:ext cx="3057525" cy="3867150"/>
          </a:xfrm>
          <a:custGeom>
            <a:avLst/>
            <a:gdLst/>
            <a:ahLst/>
            <a:cxnLst/>
            <a:rect r="r" b="b" t="t" l="l"/>
            <a:pathLst>
              <a:path h="3867150" w="3057525">
                <a:moveTo>
                  <a:pt x="0" y="0"/>
                </a:moveTo>
                <a:lnTo>
                  <a:pt x="3057525" y="0"/>
                </a:lnTo>
                <a:lnTo>
                  <a:pt x="3057525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449550" y="3638550"/>
            <a:ext cx="885825" cy="1076325"/>
          </a:xfrm>
          <a:custGeom>
            <a:avLst/>
            <a:gdLst/>
            <a:ahLst/>
            <a:cxnLst/>
            <a:rect r="r" b="b" t="t" l="l"/>
            <a:pathLst>
              <a:path h="1076325" w="8858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904720" y="4749911"/>
            <a:ext cx="2103120" cy="99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b="true" sz="2372" spc="-71">
                <a:solidFill>
                  <a:srgbClr val="4B6D43"/>
                </a:solidFill>
                <a:latin typeface="Inter Bold"/>
                <a:ea typeface="Inter Bold"/>
                <a:cs typeface="Inter Bold"/>
                <a:sym typeface="Inter Bold"/>
              </a:rPr>
              <a:t>Authentication + Backend (Next Step)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904720" y="5953001"/>
            <a:ext cx="2103120" cy="93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1805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Real SMS OTP and backend integration planned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47700" y="7286625"/>
            <a:ext cx="3495675" cy="2362200"/>
          </a:xfrm>
          <a:custGeom>
            <a:avLst/>
            <a:gdLst/>
            <a:ahLst/>
            <a:cxnLst/>
            <a:rect r="r" b="b" t="t" l="l"/>
            <a:pathLst>
              <a:path h="2362200" w="3495675">
                <a:moveTo>
                  <a:pt x="0" y="0"/>
                </a:moveTo>
                <a:lnTo>
                  <a:pt x="3495675" y="0"/>
                </a:lnTo>
                <a:lnTo>
                  <a:pt x="3495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60704" y="7755067"/>
            <a:ext cx="2596896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b="true" sz="1769" spc="-53">
                <a:solidFill>
                  <a:srgbClr val="D87945"/>
                </a:solidFill>
                <a:latin typeface="Inter Bold"/>
                <a:ea typeface="Inter Bold"/>
                <a:cs typeface="Inter Bold"/>
                <a:sym typeface="Inter Bold"/>
              </a:rPr>
              <a:t>RESPONSIVE BY DESIGN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0704" y="8226428"/>
            <a:ext cx="2596896" cy="93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The UI adapts seamlessly across devices for every user.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914775" y="7286625"/>
            <a:ext cx="228600" cy="2362200"/>
          </a:xfrm>
          <a:custGeom>
            <a:avLst/>
            <a:gdLst/>
            <a:ahLst/>
            <a:cxnLst/>
            <a:rect r="r" b="b" t="t" l="l"/>
            <a:pathLst>
              <a:path h="2362200" w="228600">
                <a:moveTo>
                  <a:pt x="0" y="0"/>
                </a:moveTo>
                <a:lnTo>
                  <a:pt x="228600" y="0"/>
                </a:lnTo>
                <a:lnTo>
                  <a:pt x="228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334256" y="7755067"/>
            <a:ext cx="2761488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b="true" sz="1769" spc="-53">
                <a:solidFill>
                  <a:srgbClr val="D87945"/>
                </a:solidFill>
                <a:latin typeface="Inter Bold"/>
                <a:ea typeface="Inter Bold"/>
                <a:cs typeface="Inter Bold"/>
                <a:sym typeface="Inter Bold"/>
              </a:rPr>
              <a:t>CONSISTENT &amp; MODULAR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34256" y="8263178"/>
            <a:ext cx="2761488" cy="87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8"/>
              </a:lnSpc>
            </a:pPr>
            <a:r>
              <a:rPr lang="en-US" sz="1698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Reusable CSS components ensure a clean, consistent experience.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372350" y="7372350"/>
            <a:ext cx="38100" cy="2105025"/>
          </a:xfrm>
          <a:custGeom>
            <a:avLst/>
            <a:gdLst/>
            <a:ahLst/>
            <a:cxnLst/>
            <a:rect r="r" b="b" t="t" l="l"/>
            <a:pathLst>
              <a:path h="2105025" w="38100">
                <a:moveTo>
                  <a:pt x="0" y="0"/>
                </a:moveTo>
                <a:lnTo>
                  <a:pt x="38100" y="0"/>
                </a:lnTo>
                <a:lnTo>
                  <a:pt x="38100" y="2105025"/>
                </a:lnTo>
                <a:lnTo>
                  <a:pt x="0" y="21050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500000" t="-4072" r="0" b="-8144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827264" y="7755067"/>
            <a:ext cx="2450592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b="true" sz="1769" spc="-53">
                <a:solidFill>
                  <a:srgbClr val="D87945"/>
                </a:solidFill>
                <a:latin typeface="Inter Bold"/>
                <a:ea typeface="Inter Bold"/>
                <a:cs typeface="Inter Bold"/>
                <a:sym typeface="Inter Bold"/>
              </a:rPr>
              <a:t>DYNAMIC &amp; ENGAGING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54112" y="8226428"/>
            <a:ext cx="2761488" cy="93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JavaScript enables smooth interactions and real-time updates.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0668000" y="7286625"/>
            <a:ext cx="219075" cy="2362200"/>
          </a:xfrm>
          <a:custGeom>
            <a:avLst/>
            <a:gdLst/>
            <a:ahLst/>
            <a:cxnLst/>
            <a:rect r="r" b="b" t="t" l="l"/>
            <a:pathLst>
              <a:path h="2362200" w="219075">
                <a:moveTo>
                  <a:pt x="0" y="0"/>
                </a:moveTo>
                <a:lnTo>
                  <a:pt x="219075" y="0"/>
                </a:lnTo>
                <a:lnTo>
                  <a:pt x="2190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1301984" y="7745992"/>
            <a:ext cx="2048256" cy="23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4"/>
              </a:lnSpc>
            </a:pPr>
            <a:r>
              <a:rPr lang="en-US" b="true" sz="1734" spc="-52">
                <a:solidFill>
                  <a:srgbClr val="4B6D43"/>
                </a:solidFill>
                <a:latin typeface="Inter Bold"/>
                <a:ea typeface="Inter Bold"/>
                <a:cs typeface="Inter Bold"/>
                <a:sym typeface="Inter Bold"/>
              </a:rPr>
              <a:t>CLIENT-SIDE STATE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19104" y="8226428"/>
            <a:ext cx="2523744" cy="93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LocalStorage keeps data on this device to simulate real usage.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3925550" y="7286625"/>
            <a:ext cx="228600" cy="2362200"/>
          </a:xfrm>
          <a:custGeom>
            <a:avLst/>
            <a:gdLst/>
            <a:ahLst/>
            <a:cxnLst/>
            <a:rect r="r" b="b" t="t" l="l"/>
            <a:pathLst>
              <a:path h="2362200" w="228600">
                <a:moveTo>
                  <a:pt x="0" y="0"/>
                </a:moveTo>
                <a:lnTo>
                  <a:pt x="228600" y="0"/>
                </a:lnTo>
                <a:lnTo>
                  <a:pt x="228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4410944" y="7755067"/>
            <a:ext cx="2633472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b="true" sz="1769" spc="-53">
                <a:solidFill>
                  <a:srgbClr val="4B6D43"/>
                </a:solidFill>
                <a:latin typeface="Inter Bold"/>
                <a:ea typeface="Inter Bold"/>
                <a:cs typeface="Inter Bold"/>
                <a:sym typeface="Inter Bold"/>
              </a:rPr>
              <a:t>BUILT FOR WHAT’S NEXT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10944" y="8235503"/>
            <a:ext cx="2633472" cy="926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7"/>
              </a:lnSpc>
            </a:pPr>
            <a:r>
              <a:rPr lang="en-US" sz="1769">
                <a:solidFill>
                  <a:srgbClr val="171717"/>
                </a:solidFill>
                <a:latin typeface="Inter"/>
                <a:ea typeface="Inter"/>
                <a:cs typeface="Inter"/>
                <a:sym typeface="Inter"/>
              </a:rPr>
              <a:t>Backend services and SMS OTP authentication are the next milestone.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55648" y="3991675"/>
            <a:ext cx="950976" cy="61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b="true" sz="4534" spc="-136">
                <a:solidFill>
                  <a:srgbClr val="D87945"/>
                </a:solidFill>
                <a:latin typeface="Inter Bold"/>
                <a:ea typeface="Inter Bold"/>
                <a:cs typeface="Inter Bold"/>
                <a:sym typeface="Inter Bold"/>
              </a:rPr>
              <a:t>&lt;/&gt;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266944" y="3971085"/>
            <a:ext cx="822960" cy="67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b="true" sz="5031" spc="-150">
                <a:solidFill>
                  <a:srgbClr val="D87945"/>
                </a:solidFill>
                <a:latin typeface="Inter Bold"/>
                <a:ea typeface="Inter Bold"/>
                <a:cs typeface="Inter Bold"/>
                <a:sym typeface="Inter Bold"/>
              </a:rPr>
              <a:t>{}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977985"/>
            <a:ext cx="4791456" cy="780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8"/>
              </a:lnSpc>
            </a:pPr>
            <a:r>
              <a:rPr lang="en-US" sz="5988" spc="-179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PlateForward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3504" y="1845571"/>
            <a:ext cx="6181344" cy="55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9"/>
              </a:lnSpc>
            </a:pPr>
            <a:r>
              <a:rPr lang="en-US" sz="4109" spc="-123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Rescue Food. Share Hope.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504" y="2673352"/>
            <a:ext cx="5047488" cy="116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053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Connecting restaurants, hostels,</a:t>
            </a:r>
          </a:p>
          <a:p>
            <a:pPr algn="l">
              <a:lnSpc>
                <a:spcPts val="3080"/>
              </a:lnSpc>
            </a:pPr>
            <a:r>
              <a:rPr lang="en-US" sz="2053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NGOs and communities to reduce waste</a:t>
            </a:r>
          </a:p>
          <a:p>
            <a:pPr algn="l">
              <a:lnSpc>
                <a:spcPts val="3080"/>
              </a:lnSpc>
            </a:pPr>
            <a:r>
              <a:rPr lang="en-US" sz="2053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and fight hunger together.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00075" y="4286250"/>
            <a:ext cx="2886075" cy="771525"/>
          </a:xfrm>
          <a:custGeom>
            <a:avLst/>
            <a:gdLst/>
            <a:ahLst/>
            <a:cxnLst/>
            <a:rect r="r" b="b" t="t" l="l"/>
            <a:pathLst>
              <a:path h="771525" w="2886075">
                <a:moveTo>
                  <a:pt x="0" y="0"/>
                </a:moveTo>
                <a:lnTo>
                  <a:pt x="2886075" y="0"/>
                </a:lnTo>
                <a:lnTo>
                  <a:pt x="288607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0" t="0" r="0" b="-1111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5840" y="4556545"/>
            <a:ext cx="2084832" cy="26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1"/>
              </a:lnSpc>
            </a:pPr>
            <a:r>
              <a:rPr lang="en-US" b="true" sz="1982" spc="-59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Find Food Nearby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638550" y="4286250"/>
            <a:ext cx="3095625" cy="771525"/>
          </a:xfrm>
          <a:custGeom>
            <a:avLst/>
            <a:gdLst/>
            <a:ahLst/>
            <a:cxnLst/>
            <a:rect r="r" b="b" t="t" l="l"/>
            <a:pathLst>
              <a:path h="771525" w="3095625">
                <a:moveTo>
                  <a:pt x="0" y="0"/>
                </a:moveTo>
                <a:lnTo>
                  <a:pt x="3095625" y="0"/>
                </a:lnTo>
                <a:lnTo>
                  <a:pt x="30956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30" t="0" r="-615" b="-1111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68496" y="4547358"/>
            <a:ext cx="2414016" cy="27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b="true" sz="1947" spc="-58">
                <a:solidFill>
                  <a:srgbClr val="E15C31"/>
                </a:solidFill>
                <a:latin typeface="Inter Bold"/>
                <a:ea typeface="Inter Bold"/>
                <a:cs typeface="Inter Bold"/>
                <a:sym typeface="Inter Bold"/>
              </a:rPr>
              <a:t>Donate Surplus Food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09600" y="5543550"/>
            <a:ext cx="6124575" cy="1724025"/>
          </a:xfrm>
          <a:custGeom>
            <a:avLst/>
            <a:gdLst/>
            <a:ahLst/>
            <a:cxnLst/>
            <a:rect r="r" b="b" t="t" l="l"/>
            <a:pathLst>
              <a:path h="1724025" w="6124575">
                <a:moveTo>
                  <a:pt x="0" y="0"/>
                </a:moveTo>
                <a:lnTo>
                  <a:pt x="6124575" y="0"/>
                </a:lnTo>
                <a:lnTo>
                  <a:pt x="61245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54" t="-11049" r="-311" b="-110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2688" y="5822729"/>
            <a:ext cx="1993392" cy="23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69" spc="-53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Our Impact So Far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688" y="6325746"/>
            <a:ext cx="932688" cy="39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939" spc="-88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25K+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0320" y="6312134"/>
            <a:ext cx="859536" cy="40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2"/>
              </a:lnSpc>
            </a:pPr>
            <a:r>
              <a:rPr lang="en-US" sz="2868" spc="-86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120+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41648" y="6330846"/>
            <a:ext cx="859536" cy="38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904" spc="-87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15K+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6112" y="8084986"/>
            <a:ext cx="1664208" cy="26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982" spc="-59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How It Works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66775" y="8534400"/>
            <a:ext cx="1019175" cy="1076325"/>
          </a:xfrm>
          <a:custGeom>
            <a:avLst/>
            <a:gdLst/>
            <a:ahLst/>
            <a:cxnLst/>
            <a:rect r="r" b="b" t="t" l="l"/>
            <a:pathLst>
              <a:path h="1076325" w="1019175">
                <a:moveTo>
                  <a:pt x="0" y="0"/>
                </a:moveTo>
                <a:lnTo>
                  <a:pt x="1019175" y="0"/>
                </a:lnTo>
                <a:lnTo>
                  <a:pt x="10191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814" r="-7476" b="-353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03120" y="8600219"/>
            <a:ext cx="1463040" cy="23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69" spc="-53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Share Surplus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03120" y="8990975"/>
            <a:ext cx="2176272" cy="50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450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Restaurants and hostels</a:t>
            </a:r>
          </a:p>
          <a:p>
            <a:pPr algn="l">
              <a:lnSpc>
                <a:spcPts val="2031"/>
              </a:lnSpc>
            </a:pPr>
            <a:r>
              <a:rPr lang="en-US" sz="1450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list extra food in minutes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781550" y="9001125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372100" y="8534400"/>
            <a:ext cx="1047750" cy="1076325"/>
          </a:xfrm>
          <a:custGeom>
            <a:avLst/>
            <a:gdLst/>
            <a:ahLst/>
            <a:cxnLst/>
            <a:rect r="r" b="b" t="t" l="l"/>
            <a:pathLst>
              <a:path h="1076325" w="1047750">
                <a:moveTo>
                  <a:pt x="0" y="0"/>
                </a:moveTo>
                <a:lnTo>
                  <a:pt x="1047750" y="0"/>
                </a:lnTo>
                <a:lnTo>
                  <a:pt x="1047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545" t="-16814" r="-10909" b="-353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669280" y="8664623"/>
            <a:ext cx="329184" cy="80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7"/>
              </a:lnSpc>
            </a:pPr>
            <a:r>
              <a:rPr lang="en-US" b="true" sz="5988" spc="-179">
                <a:solidFill>
                  <a:srgbClr val="E15C31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56832" y="8591032"/>
            <a:ext cx="1609344" cy="24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734" spc="-52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Match Instantly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56832" y="8996118"/>
            <a:ext cx="2048256" cy="76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450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PlateForward connects</a:t>
            </a:r>
          </a:p>
          <a:p>
            <a:pPr algn="l">
              <a:lnSpc>
                <a:spcPts val="2031"/>
              </a:lnSpc>
            </a:pPr>
            <a:r>
              <a:rPr lang="en-US" sz="1450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donors with NGOs</a:t>
            </a:r>
          </a:p>
          <a:p>
            <a:pPr algn="l">
              <a:lnSpc>
                <a:spcPts val="2031"/>
              </a:lnSpc>
            </a:pPr>
            <a:r>
              <a:rPr lang="en-US" sz="1450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nearby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144000" y="9001125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648825" y="8429625"/>
            <a:ext cx="1162050" cy="1181100"/>
          </a:xfrm>
          <a:custGeom>
            <a:avLst/>
            <a:gdLst/>
            <a:ahLst/>
            <a:cxnLst/>
            <a:rect r="r" b="b" t="t" l="l"/>
            <a:pathLst>
              <a:path h="1181100" w="1162050">
                <a:moveTo>
                  <a:pt x="0" y="0"/>
                </a:moveTo>
                <a:lnTo>
                  <a:pt x="1162050" y="0"/>
                </a:lnTo>
                <a:lnTo>
                  <a:pt x="116205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557" t="-6451" r="-6557" b="-3225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149840" y="8664623"/>
            <a:ext cx="329184" cy="80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7"/>
              </a:lnSpc>
            </a:pPr>
            <a:r>
              <a:rPr lang="en-US" b="true" sz="5988" spc="-179">
                <a:solidFill>
                  <a:srgbClr val="E15C31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27664" y="8600219"/>
            <a:ext cx="1353312" cy="23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69" spc="-53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Safe Pick-up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027664" y="8991425"/>
            <a:ext cx="1719072" cy="50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6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NGOs pick up food</a:t>
            </a:r>
          </a:p>
          <a:p>
            <a:pPr algn="l">
              <a:lnSpc>
                <a:spcPts val="2080"/>
              </a:lnSpc>
            </a:pPr>
            <a:r>
              <a:rPr lang="en-US" sz="1486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quickly and safely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277850" y="9001125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858875" y="8534400"/>
            <a:ext cx="1038225" cy="1076325"/>
          </a:xfrm>
          <a:custGeom>
            <a:avLst/>
            <a:gdLst/>
            <a:ahLst/>
            <a:cxnLst/>
            <a:rect r="r" b="b" t="t" l="l"/>
            <a:pathLst>
              <a:path h="1076325" w="1038225">
                <a:moveTo>
                  <a:pt x="0" y="0"/>
                </a:moveTo>
                <a:lnTo>
                  <a:pt x="1038225" y="0"/>
                </a:lnTo>
                <a:lnTo>
                  <a:pt x="1038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761" t="-16814" r="-12844" b="-3539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191488" y="8664623"/>
            <a:ext cx="329184" cy="80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7"/>
              </a:lnSpc>
            </a:pPr>
            <a:r>
              <a:rPr lang="en-US" b="true" sz="5988" spc="-179">
                <a:solidFill>
                  <a:srgbClr val="E15C31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05888" y="8600219"/>
            <a:ext cx="1792224" cy="23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769" spc="-53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Feed &amp; Empower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105888" y="8996569"/>
            <a:ext cx="2048256" cy="76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6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Nutritious meals reach people and strengthen communities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7400925" y="619125"/>
            <a:ext cx="10239375" cy="6781800"/>
          </a:xfrm>
          <a:custGeom>
            <a:avLst/>
            <a:gdLst/>
            <a:ahLst/>
            <a:cxnLst/>
            <a:rect r="r" b="b" t="t" l="l"/>
            <a:pathLst>
              <a:path h="6781800" w="10239375">
                <a:moveTo>
                  <a:pt x="0" y="0"/>
                </a:moveTo>
                <a:lnTo>
                  <a:pt x="10239375" y="0"/>
                </a:lnTo>
                <a:lnTo>
                  <a:pt x="10239375" y="6781800"/>
                </a:lnTo>
                <a:lnTo>
                  <a:pt x="0" y="6781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808" r="0" b="-1544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808976" y="910436"/>
            <a:ext cx="1499616" cy="25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"/>
              </a:lnSpc>
            </a:pPr>
            <a:r>
              <a:rPr lang="en-US" sz="1876" spc="-56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Plate</a:t>
            </a:r>
            <a:r>
              <a:rPr lang="en-US" sz="1876" spc="-56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Forward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6544925" y="638175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808976" y="2117810"/>
            <a:ext cx="3346704" cy="1449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sz="3577" spc="-107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Good food</a:t>
            </a:r>
          </a:p>
          <a:p>
            <a:pPr algn="l">
              <a:lnSpc>
                <a:spcPts val="3756"/>
              </a:lnSpc>
            </a:pPr>
            <a:r>
              <a:rPr lang="en-US" sz="3577" spc="-107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deserves a</a:t>
            </a:r>
          </a:p>
          <a:p>
            <a:pPr algn="l">
              <a:lnSpc>
                <a:spcPts val="3756"/>
              </a:lnSpc>
            </a:pPr>
            <a:r>
              <a:rPr lang="en-US" sz="3577" spc="-107" b="true">
                <a:solidFill>
                  <a:srgbClr val="E15C31"/>
                </a:solidFill>
                <a:latin typeface="Inter Bold"/>
                <a:ea typeface="Inter Bold"/>
                <a:cs typeface="Inter Bold"/>
                <a:sym typeface="Inter Bold"/>
              </a:rPr>
              <a:t>second chance.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08976" y="3803902"/>
            <a:ext cx="3511296" cy="46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7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PlateForward connects surplus food with</a:t>
            </a:r>
          </a:p>
          <a:p>
            <a:pPr algn="l">
              <a:lnSpc>
                <a:spcPts val="1931"/>
              </a:lnSpc>
            </a:pPr>
            <a:r>
              <a:rPr lang="en-US" sz="137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people who need it—fast, safe and simple.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10144" y="4811693"/>
            <a:ext cx="1481328" cy="18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6"/>
              </a:lnSpc>
            </a:pPr>
            <a:r>
              <a:rPr lang="en-US" b="true" sz="1415" spc="-42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Find Food Nearby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21824" y="4817131"/>
            <a:ext cx="1664208" cy="178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1"/>
              </a:lnSpc>
            </a:pPr>
            <a:r>
              <a:rPr lang="en-US" b="true" sz="1344" spc="-40">
                <a:solidFill>
                  <a:srgbClr val="E15C31"/>
                </a:solidFill>
                <a:latin typeface="Inter Bold"/>
                <a:ea typeface="Inter Bold"/>
                <a:cs typeface="Inter Bold"/>
                <a:sym typeface="Inter Bold"/>
              </a:rPr>
              <a:t>Donate Surplus Food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51008" y="935139"/>
            <a:ext cx="932688" cy="1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"/>
              </a:lnSpc>
            </a:pPr>
            <a:r>
              <a:rPr lang="en-US" sz="1202" spc="-36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How It Works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539728" y="935139"/>
            <a:ext cx="475488" cy="1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"/>
              </a:lnSpc>
            </a:pPr>
            <a:r>
              <a:rPr lang="en-US" sz="1202" spc="-36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89536" y="935139"/>
            <a:ext cx="786384" cy="1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"/>
              </a:lnSpc>
            </a:pPr>
            <a:r>
              <a:rPr lang="en-US" sz="1202" spc="-36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For Donors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13664" y="935139"/>
            <a:ext cx="694944" cy="1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"/>
              </a:lnSpc>
            </a:pPr>
            <a:r>
              <a:rPr lang="en-US" sz="1202" spc="-36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For NGOs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82928" y="935139"/>
            <a:ext cx="640080" cy="1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"/>
              </a:lnSpc>
            </a:pPr>
            <a:r>
              <a:rPr lang="en-US" sz="1202" spc="-36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About Us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947136" y="935139"/>
            <a:ext cx="438912" cy="1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"/>
              </a:lnSpc>
            </a:pPr>
            <a:r>
              <a:rPr lang="en-US" sz="1202" spc="-36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Log In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733520" y="935139"/>
            <a:ext cx="548640" cy="1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"/>
              </a:lnSpc>
            </a:pPr>
            <a:r>
              <a:rPr lang="en-US" sz="1202" spc="-36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Sign Up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669280" y="6330846"/>
            <a:ext cx="713232" cy="38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904" spc="-87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30+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2688" y="6749101"/>
            <a:ext cx="1170432" cy="22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0"/>
              </a:lnSpc>
            </a:pPr>
            <a:r>
              <a:rPr lang="en-US" sz="1273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Meals Rescued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560320" y="6745689"/>
            <a:ext cx="694944" cy="23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344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Partners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041648" y="6745014"/>
            <a:ext cx="1170432" cy="23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30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People Served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669280" y="6749101"/>
            <a:ext cx="438912" cy="22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0"/>
              </a:lnSpc>
            </a:pPr>
            <a:r>
              <a:rPr lang="en-US" sz="1273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Cities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357616" y="6200478"/>
            <a:ext cx="1225296" cy="23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344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Reduce Waste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393424" y="6200478"/>
            <a:ext cx="1828800" cy="23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344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Nourish Communities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648688" y="6199803"/>
            <a:ext cx="1517904" cy="23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308" b="true">
                <a:solidFill>
                  <a:srgbClr val="428F5D"/>
                </a:solidFill>
                <a:latin typeface="Inter Bold"/>
                <a:ea typeface="Inter Bold"/>
                <a:cs typeface="Inter Bold"/>
                <a:sym typeface="Inter Bold"/>
              </a:rPr>
              <a:t>Stronger Together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357616" y="6552714"/>
            <a:ext cx="1517904" cy="41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73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Keep good food out</a:t>
            </a:r>
          </a:p>
          <a:p>
            <a:pPr algn="l">
              <a:lnSpc>
                <a:spcPts val="1655"/>
              </a:lnSpc>
            </a:pPr>
            <a:r>
              <a:rPr lang="en-US" sz="1273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of landfills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393424" y="6542964"/>
            <a:ext cx="1682496" cy="41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23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Deliver meals to those</a:t>
            </a:r>
          </a:p>
          <a:p>
            <a:pPr algn="l">
              <a:lnSpc>
                <a:spcPts val="1609"/>
              </a:lnSpc>
            </a:pPr>
            <a:r>
              <a:rPr lang="en-US" sz="123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who need them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648688" y="6552714"/>
            <a:ext cx="1517904" cy="41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273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Build a kinder, more sustainable future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61872" y="8664623"/>
            <a:ext cx="201168" cy="80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7"/>
              </a:lnSpc>
            </a:pPr>
            <a:r>
              <a:rPr lang="en-US" b="true" sz="5988" spc="-179">
                <a:solidFill>
                  <a:srgbClr val="E15C31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7200" y="257895"/>
            <a:ext cx="6217920" cy="780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8"/>
              </a:lnSpc>
            </a:pPr>
            <a:r>
              <a:rPr lang="en-US" sz="5988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Authentication UI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7200" y="1167875"/>
            <a:ext cx="8705088" cy="50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3861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A simple, trusted start for every user.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7200" y="1864213"/>
            <a:ext cx="5559552" cy="71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From landing to dashboard in four clear steps. One account. Two roles. More impact.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52450" y="2847975"/>
            <a:ext cx="3514725" cy="5905500"/>
          </a:xfrm>
          <a:custGeom>
            <a:avLst/>
            <a:gdLst/>
            <a:ahLst/>
            <a:cxnLst/>
            <a:rect r="r" b="b" t="t" l="l"/>
            <a:pathLst>
              <a:path h="5905500" w="3514725">
                <a:moveTo>
                  <a:pt x="0" y="0"/>
                </a:moveTo>
                <a:lnTo>
                  <a:pt x="3514725" y="0"/>
                </a:lnTo>
                <a:lnTo>
                  <a:pt x="3514725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23" t="-1129" r="-2168" b="-64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17904" y="3398245"/>
            <a:ext cx="1609344" cy="258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911" b="true">
                <a:solidFill>
                  <a:srgbClr val="4B8F50"/>
                </a:solidFill>
                <a:latin typeface="Inter Bold"/>
                <a:ea typeface="Inter Bold"/>
                <a:cs typeface="Inter Bold"/>
                <a:sym typeface="Inter Bold"/>
              </a:rPr>
              <a:t>PlateForward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4480" y="3730250"/>
            <a:ext cx="1536192" cy="11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"/>
              </a:lnSpc>
            </a:pPr>
            <a:r>
              <a:rPr lang="en-US" sz="954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Rescue Food, Share Hope.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128" y="4428554"/>
            <a:ext cx="221284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734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Good food deserves a second life.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4128" y="5111253"/>
            <a:ext cx="2468880" cy="35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060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Join a community that resurves surplus food and nourishes more lives.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7700" y="5781675"/>
            <a:ext cx="3276600" cy="1724025"/>
          </a:xfrm>
          <a:custGeom>
            <a:avLst/>
            <a:gdLst/>
            <a:ahLst/>
            <a:cxnLst/>
            <a:rect r="r" b="b" t="t" l="l"/>
            <a:pathLst>
              <a:path h="1724025" w="3276600">
                <a:moveTo>
                  <a:pt x="0" y="0"/>
                </a:moveTo>
                <a:lnTo>
                  <a:pt x="3276600" y="0"/>
                </a:lnTo>
                <a:lnTo>
                  <a:pt x="3276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9175" y="7562850"/>
            <a:ext cx="2600325" cy="419100"/>
          </a:xfrm>
          <a:custGeom>
            <a:avLst/>
            <a:gdLst/>
            <a:ahLst/>
            <a:cxnLst/>
            <a:rect r="r" b="b" t="t" l="l"/>
            <a:pathLst>
              <a:path h="419100" w="2600325">
                <a:moveTo>
                  <a:pt x="0" y="0"/>
                </a:moveTo>
                <a:lnTo>
                  <a:pt x="2600325" y="0"/>
                </a:lnTo>
                <a:lnTo>
                  <a:pt x="26003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60" t="-15909" r="-3296" b="-3863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9175" y="8048625"/>
            <a:ext cx="2600325" cy="419100"/>
          </a:xfrm>
          <a:custGeom>
            <a:avLst/>
            <a:gdLst/>
            <a:ahLst/>
            <a:cxnLst/>
            <a:rect r="r" b="b" t="t" l="l"/>
            <a:pathLst>
              <a:path h="419100" w="2600325">
                <a:moveTo>
                  <a:pt x="0" y="0"/>
                </a:moveTo>
                <a:lnTo>
                  <a:pt x="2600325" y="0"/>
                </a:lnTo>
                <a:lnTo>
                  <a:pt x="26003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60" t="-29545" r="-3296" b="-2500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21408" y="8199606"/>
            <a:ext cx="420624" cy="16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1"/>
              </a:lnSpc>
            </a:pPr>
            <a:r>
              <a:rPr lang="en-US" sz="1131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Log in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848225" y="2847975"/>
            <a:ext cx="3638550" cy="5905500"/>
          </a:xfrm>
          <a:custGeom>
            <a:avLst/>
            <a:gdLst/>
            <a:ahLst/>
            <a:cxnLst/>
            <a:rect r="r" b="b" t="t" l="l"/>
            <a:pathLst>
              <a:path h="5905500" w="3638550">
                <a:moveTo>
                  <a:pt x="0" y="0"/>
                </a:moveTo>
                <a:lnTo>
                  <a:pt x="3638550" y="0"/>
                </a:lnTo>
                <a:lnTo>
                  <a:pt x="3638550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32" t="-1129" r="-261" b="-64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266944" y="3599361"/>
            <a:ext cx="2377440" cy="24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840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Create your account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219700" y="4286250"/>
            <a:ext cx="1533525" cy="647700"/>
          </a:xfrm>
          <a:custGeom>
            <a:avLst/>
            <a:gdLst/>
            <a:ahLst/>
            <a:cxnLst/>
            <a:rect r="r" b="b" t="t" l="l"/>
            <a:pathLst>
              <a:path h="647700" w="1533525">
                <a:moveTo>
                  <a:pt x="0" y="0"/>
                </a:moveTo>
                <a:lnTo>
                  <a:pt x="1533525" y="0"/>
                </a:lnTo>
                <a:lnTo>
                  <a:pt x="1533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742432" y="4552622"/>
            <a:ext cx="512064" cy="14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0"/>
              </a:lnSpc>
            </a:pPr>
            <a:r>
              <a:rPr lang="en-US" sz="106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Sign Up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524625" y="4286250"/>
            <a:ext cx="1752600" cy="647700"/>
          </a:xfrm>
          <a:custGeom>
            <a:avLst/>
            <a:gdLst/>
            <a:ahLst/>
            <a:cxnLst/>
            <a:rect r="r" b="b" t="t" l="l"/>
            <a:pathLst>
              <a:path h="647700" w="1752600">
                <a:moveTo>
                  <a:pt x="0" y="0"/>
                </a:moveTo>
                <a:lnTo>
                  <a:pt x="1752600" y="0"/>
                </a:lnTo>
                <a:lnTo>
                  <a:pt x="1752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242048" y="4537434"/>
            <a:ext cx="420624" cy="16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1"/>
              </a:lnSpc>
            </a:pPr>
            <a:r>
              <a:rPr lang="en-US" sz="1131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Log In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219700" y="4924425"/>
            <a:ext cx="3057525" cy="647700"/>
          </a:xfrm>
          <a:custGeom>
            <a:avLst/>
            <a:gdLst/>
            <a:ahLst/>
            <a:cxnLst/>
            <a:rect r="r" b="b" t="t" l="l"/>
            <a:pathLst>
              <a:path h="647700" w="3057525">
                <a:moveTo>
                  <a:pt x="0" y="0"/>
                </a:moveTo>
                <a:lnTo>
                  <a:pt x="3057525" y="0"/>
                </a:lnTo>
                <a:lnTo>
                  <a:pt x="3057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394960" y="5206678"/>
            <a:ext cx="621792" cy="14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"/>
              </a:lnSpc>
            </a:pPr>
            <a:r>
              <a:rPr lang="en-US" sz="1025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Full Name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219700" y="5572125"/>
            <a:ext cx="3057525" cy="428625"/>
          </a:xfrm>
          <a:custGeom>
            <a:avLst/>
            <a:gdLst/>
            <a:ahLst/>
            <a:cxnLst/>
            <a:rect r="r" b="b" t="t" l="l"/>
            <a:pathLst>
              <a:path h="428625" w="3057525">
                <a:moveTo>
                  <a:pt x="0" y="0"/>
                </a:moveTo>
                <a:lnTo>
                  <a:pt x="3057525" y="0"/>
                </a:lnTo>
                <a:lnTo>
                  <a:pt x="3057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219700" y="6000750"/>
            <a:ext cx="3057525" cy="647700"/>
          </a:xfrm>
          <a:custGeom>
            <a:avLst/>
            <a:gdLst/>
            <a:ahLst/>
            <a:cxnLst/>
            <a:rect r="r" b="b" t="t" l="l"/>
            <a:pathLst>
              <a:path h="647700" w="3057525">
                <a:moveTo>
                  <a:pt x="0" y="0"/>
                </a:moveTo>
                <a:lnTo>
                  <a:pt x="3057525" y="0"/>
                </a:lnTo>
                <a:lnTo>
                  <a:pt x="3057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394960" y="6280388"/>
            <a:ext cx="969264" cy="14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"/>
              </a:lnSpc>
            </a:pPr>
            <a:r>
              <a:rPr lang="en-US" sz="1096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Phone number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5219700" y="6638925"/>
            <a:ext cx="3057525" cy="647700"/>
          </a:xfrm>
          <a:custGeom>
            <a:avLst/>
            <a:gdLst/>
            <a:ahLst/>
            <a:cxnLst/>
            <a:rect r="r" b="b" t="t" l="l"/>
            <a:pathLst>
              <a:path h="647700" w="3057525">
                <a:moveTo>
                  <a:pt x="0" y="0"/>
                </a:moveTo>
                <a:lnTo>
                  <a:pt x="3057525" y="0"/>
                </a:lnTo>
                <a:lnTo>
                  <a:pt x="3057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829550" y="6638925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248275" y="7572375"/>
            <a:ext cx="2943225" cy="457200"/>
          </a:xfrm>
          <a:custGeom>
            <a:avLst/>
            <a:gdLst/>
            <a:ahLst/>
            <a:cxnLst/>
            <a:rect r="r" b="b" t="t" l="l"/>
            <a:pathLst>
              <a:path h="457200" w="2943225">
                <a:moveTo>
                  <a:pt x="0" y="0"/>
                </a:moveTo>
                <a:lnTo>
                  <a:pt x="2943225" y="0"/>
                </a:lnTo>
                <a:lnTo>
                  <a:pt x="29432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970" t="-16666" r="-2912" b="-2500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419088" y="7725192"/>
            <a:ext cx="694944" cy="15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7"/>
              </a:lnSpc>
            </a:pPr>
            <a:r>
              <a:rPr lang="en-US" sz="11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66944" y="8214344"/>
            <a:ext cx="2194560" cy="14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"/>
              </a:lnSpc>
            </a:pPr>
            <a:r>
              <a:rPr lang="en-US" sz="1096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Already have an account? </a:t>
            </a:r>
            <a:r>
              <a:rPr lang="en-US" sz="1096">
                <a:solidFill>
                  <a:srgbClr val="E16544"/>
                </a:solidFill>
                <a:latin typeface="Inter"/>
                <a:ea typeface="Inter"/>
                <a:cs typeface="Inter"/>
                <a:sym typeface="Inter"/>
              </a:rPr>
              <a:t>Log in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382125" y="2847975"/>
            <a:ext cx="3648075" cy="5905500"/>
          </a:xfrm>
          <a:custGeom>
            <a:avLst/>
            <a:gdLst/>
            <a:ahLst/>
            <a:cxnLst/>
            <a:rect r="r" b="b" t="t" l="l"/>
            <a:pathLst>
              <a:path h="5905500" w="3648075">
                <a:moveTo>
                  <a:pt x="0" y="0"/>
                </a:moveTo>
                <a:lnTo>
                  <a:pt x="3648075" y="0"/>
                </a:lnTo>
                <a:lnTo>
                  <a:pt x="3648075" y="5905500"/>
                </a:lnTo>
                <a:lnTo>
                  <a:pt x="0" y="5905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783" t="-1129" r="-1044" b="-645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637776" y="3603674"/>
            <a:ext cx="2011680" cy="24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6"/>
              </a:lnSpc>
            </a:pPr>
            <a:r>
              <a:rPr lang="en-US" sz="1876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Choose your role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9620250" y="4505325"/>
            <a:ext cx="3171825" cy="1323975"/>
          </a:xfrm>
          <a:custGeom>
            <a:avLst/>
            <a:gdLst/>
            <a:ahLst/>
            <a:cxnLst/>
            <a:rect r="r" b="b" t="t" l="l"/>
            <a:pathLst>
              <a:path h="1323975" w="3171825">
                <a:moveTo>
                  <a:pt x="0" y="0"/>
                </a:moveTo>
                <a:lnTo>
                  <a:pt x="3171825" y="0"/>
                </a:lnTo>
                <a:lnTo>
                  <a:pt x="3171825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501" t="-719" r="-1801" b="-12949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734550" y="4752975"/>
            <a:ext cx="695325" cy="819150"/>
          </a:xfrm>
          <a:custGeom>
            <a:avLst/>
            <a:gdLst/>
            <a:ahLst/>
            <a:cxnLst/>
            <a:rect r="r" b="b" t="t" l="l"/>
            <a:pathLst>
              <a:path h="819150" w="695325">
                <a:moveTo>
                  <a:pt x="0" y="0"/>
                </a:moveTo>
                <a:lnTo>
                  <a:pt x="695325" y="0"/>
                </a:lnTo>
                <a:lnTo>
                  <a:pt x="69532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3287" t="-4651" r="-4109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791700" y="4924425"/>
            <a:ext cx="666750" cy="438150"/>
          </a:xfrm>
          <a:custGeom>
            <a:avLst/>
            <a:gdLst/>
            <a:ahLst/>
            <a:cxnLst/>
            <a:rect r="r" b="b" t="t" l="l"/>
            <a:pathLst>
              <a:path h="438150" w="6667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533888" y="5105815"/>
            <a:ext cx="1225296" cy="417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I have surplus food to share.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2392025" y="4762500"/>
            <a:ext cx="323850" cy="352425"/>
          </a:xfrm>
          <a:custGeom>
            <a:avLst/>
            <a:gdLst/>
            <a:ahLst/>
            <a:cxnLst/>
            <a:rect r="r" b="b" t="t" l="l"/>
            <a:pathLst>
              <a:path h="352425" w="323850">
                <a:moveTo>
                  <a:pt x="0" y="0"/>
                </a:moveTo>
                <a:lnTo>
                  <a:pt x="323850" y="0"/>
                </a:lnTo>
                <a:lnTo>
                  <a:pt x="323850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61764" t="-13513" r="-41176" b="-8108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734550" y="6181725"/>
            <a:ext cx="704850" cy="838200"/>
          </a:xfrm>
          <a:custGeom>
            <a:avLst/>
            <a:gdLst/>
            <a:ahLst/>
            <a:cxnLst/>
            <a:rect r="r" b="b" t="t" l="l"/>
            <a:pathLst>
              <a:path h="838200" w="704850">
                <a:moveTo>
                  <a:pt x="0" y="0"/>
                </a:moveTo>
                <a:lnTo>
                  <a:pt x="704850" y="0"/>
                </a:lnTo>
                <a:lnTo>
                  <a:pt x="7048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22972" t="-21590" r="-2702" b="-6818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791700" y="6210300"/>
            <a:ext cx="666750" cy="647700"/>
          </a:xfrm>
          <a:custGeom>
            <a:avLst/>
            <a:gdLst/>
            <a:ahLst/>
            <a:cxnLst/>
            <a:rect r="r" b="b" t="t" l="l"/>
            <a:pathLst>
              <a:path h="647700" w="66675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0533888" y="6561720"/>
            <a:ext cx="1719072" cy="35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060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I represent an organization that receives food.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2192000" y="600075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620250" y="7715250"/>
            <a:ext cx="3171825" cy="476250"/>
          </a:xfrm>
          <a:custGeom>
            <a:avLst/>
            <a:gdLst/>
            <a:ahLst/>
            <a:cxnLst/>
            <a:rect r="r" b="b" t="t" l="l"/>
            <a:pathLst>
              <a:path h="476250" w="3171825">
                <a:moveTo>
                  <a:pt x="0" y="0"/>
                </a:moveTo>
                <a:lnTo>
                  <a:pt x="3171825" y="0"/>
                </a:lnTo>
                <a:lnTo>
                  <a:pt x="317182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1501" t="0" r="-1801" b="-3600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5266944" y="3996674"/>
            <a:ext cx="1920240" cy="14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"/>
              </a:lnSpc>
            </a:pPr>
            <a:r>
              <a:rPr lang="en-US" sz="1096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Sign up or log in to continue.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37776" y="3996674"/>
            <a:ext cx="2633472" cy="14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"/>
              </a:lnSpc>
            </a:pPr>
            <a:r>
              <a:rPr lang="en-US" sz="1096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How do you want to use PlateForward?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173200" y="3248615"/>
            <a:ext cx="1865376" cy="1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"/>
              </a:lnSpc>
            </a:pPr>
            <a:r>
              <a:rPr lang="en-US" sz="1273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Welcome back, Ananya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301216" y="3838195"/>
            <a:ext cx="1024128" cy="1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"/>
              </a:lnSpc>
            </a:pPr>
            <a:r>
              <a:rPr lang="en-US" sz="989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Impact this week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301216" y="4111236"/>
            <a:ext cx="438912" cy="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620" b="true">
                <a:solidFill>
                  <a:srgbClr val="4B8F50"/>
                </a:solidFill>
                <a:latin typeface="Inter Bold"/>
                <a:ea typeface="Inter Bold"/>
                <a:cs typeface="Inter Bold"/>
                <a:sym typeface="Inter Bold"/>
              </a:rPr>
              <a:t>24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947136" y="4092447"/>
            <a:ext cx="219456" cy="38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975" b="true">
                <a:solidFill>
                  <a:srgbClr val="4B8F50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301216" y="4522349"/>
            <a:ext cx="877824" cy="11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"/>
              </a:lnSpc>
            </a:pPr>
            <a:r>
              <a:rPr lang="en-US" sz="954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Meals Rescued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947136" y="4513275"/>
            <a:ext cx="1060704" cy="12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"/>
              </a:lnSpc>
            </a:pPr>
            <a:r>
              <a:rPr lang="en-US" sz="919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Connections Made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533888" y="4857665"/>
            <a:ext cx="585216" cy="21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1"/>
              </a:lnSpc>
            </a:pPr>
            <a:r>
              <a:rPr lang="en-US" sz="1521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Donor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533888" y="6277271"/>
            <a:ext cx="841248" cy="21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1"/>
              </a:lnSpc>
            </a:pPr>
            <a:r>
              <a:rPr lang="en-US" sz="1521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Receiver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863072" y="7838349"/>
            <a:ext cx="694944" cy="15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7"/>
              </a:lnSpc>
            </a:pPr>
            <a:r>
              <a:rPr lang="en-US" sz="11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266944" y="7268390"/>
            <a:ext cx="2468880" cy="14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0"/>
              </a:lnSpc>
            </a:pPr>
            <a:r>
              <a:rPr lang="en-US" sz="1060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By continuing, you agree to our </a:t>
            </a:r>
            <a:r>
              <a:rPr lang="en-US" sz="1060">
                <a:solidFill>
                  <a:srgbClr val="E16544"/>
                </a:solidFill>
                <a:latin typeface="Inter"/>
                <a:ea typeface="Inter"/>
                <a:cs typeface="Inter"/>
                <a:sym typeface="Inter"/>
              </a:rPr>
              <a:t>terms</a:t>
            </a:r>
            <a:r>
              <a:rPr lang="en-US" sz="1060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719072" y="7710281"/>
            <a:ext cx="1225296" cy="14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6"/>
              </a:lnSpc>
            </a:pPr>
            <a:r>
              <a:rPr lang="en-US" sz="109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an account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99616" y="7005102"/>
            <a:ext cx="969264" cy="15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7"/>
              </a:lnSpc>
            </a:pPr>
            <a:r>
              <a:rPr lang="en-US" sz="11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PlateForward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779776" y="7022090"/>
            <a:ext cx="768096" cy="11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"/>
              </a:lnSpc>
            </a:pPr>
            <a:r>
              <a:rPr lang="en-US" sz="954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PlateForward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394960" y="5736215"/>
            <a:ext cx="310896" cy="11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"/>
              </a:lnSpc>
            </a:pPr>
            <a:r>
              <a:rPr lang="en-US" sz="954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Email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94960" y="6815762"/>
            <a:ext cx="640080" cy="14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0"/>
              </a:lnSpc>
            </a:pPr>
            <a:r>
              <a:rPr lang="en-US" sz="1060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Password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71600" y="9082090"/>
            <a:ext cx="896112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Landing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87552" y="9082090"/>
            <a:ext cx="182880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76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120640" y="9082090"/>
            <a:ext cx="182880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76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582912" y="9082090"/>
            <a:ext cx="182880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76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081760" y="9082090"/>
            <a:ext cx="182880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76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468112" y="9082090"/>
            <a:ext cx="1773936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Sign up or log in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930384" y="9082090"/>
            <a:ext cx="2816352" cy="2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769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Choose donor or receiver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429232" y="9073015"/>
            <a:ext cx="2157984" cy="23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4"/>
              </a:lnSpc>
            </a:pPr>
            <a:r>
              <a:rPr lang="en-US" sz="1734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Platform dashboard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773168" y="9845874"/>
            <a:ext cx="7699248" cy="282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2124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Real SMS OTP integration is the </a:t>
            </a:r>
            <a:r>
              <a:rPr lang="en-US" sz="2124" b="true">
                <a:solidFill>
                  <a:srgbClr val="E16544"/>
                </a:solidFill>
                <a:latin typeface="Inter Bold"/>
                <a:ea typeface="Inter Bold"/>
                <a:cs typeface="Inter Bold"/>
                <a:sym typeface="Inter Bold"/>
              </a:rPr>
              <a:t>next implementation step.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7044416" y="3227764"/>
            <a:ext cx="128016" cy="18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5"/>
              </a:lnSpc>
            </a:pPr>
            <a:r>
              <a:rPr lang="en-US" sz="14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173200" y="4959201"/>
            <a:ext cx="969264" cy="16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1"/>
              </a:lnSpc>
            </a:pPr>
            <a:r>
              <a:rPr lang="en-US" sz="1131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Quick actions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301216" y="5381901"/>
            <a:ext cx="822960" cy="39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131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List surplus food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301216" y="5791236"/>
            <a:ext cx="219456" cy="15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"/>
              </a:lnSpc>
            </a:pPr>
            <a:r>
              <a:rPr lang="en-US" sz="1167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→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173200" y="6297100"/>
            <a:ext cx="969264" cy="14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"/>
              </a:lnSpc>
            </a:pPr>
            <a:r>
              <a:rPr lang="en-US" sz="1025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Recent activity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484096" y="6661213"/>
            <a:ext cx="877824" cy="16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5"/>
              </a:lnSpc>
            </a:pPr>
            <a:r>
              <a:rPr lang="en-US" sz="989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Surplus listed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484096" y="6863247"/>
            <a:ext cx="1298448" cy="13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7"/>
              </a:lnSpc>
            </a:pPr>
            <a:r>
              <a:rPr lang="en-US" sz="848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12 kg — Today, 10:30 AM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484096" y="7243504"/>
            <a:ext cx="969264" cy="14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"/>
              </a:lnSpc>
            </a:pPr>
            <a:r>
              <a:rPr lang="en-US" sz="1025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Food delivered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484096" y="7418745"/>
            <a:ext cx="1426464" cy="13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7"/>
              </a:lnSpc>
            </a:pPr>
            <a:r>
              <a:rPr lang="en-US" sz="848">
                <a:solidFill>
                  <a:srgbClr val="3D3D3D"/>
                </a:solidFill>
                <a:latin typeface="Inter"/>
                <a:ea typeface="Inter"/>
                <a:cs typeface="Inter"/>
                <a:sym typeface="Inter"/>
              </a:rPr>
              <a:t>8 kg — Yesterday, 5:20 PM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484096" y="7768141"/>
            <a:ext cx="1133856" cy="14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"/>
              </a:lnSpc>
            </a:pPr>
            <a:r>
              <a:rPr lang="en-US" sz="1025" b="true">
                <a:solidFill>
                  <a:srgbClr val="3D3D3D"/>
                </a:solidFill>
                <a:latin typeface="Inter Bold"/>
                <a:ea typeface="Inter Bold"/>
                <a:cs typeface="Inter Bold"/>
                <a:sym typeface="Inter Bold"/>
              </a:rPr>
              <a:t>Request matched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640" y="281917"/>
            <a:ext cx="7827264" cy="113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1"/>
              </a:lnSpc>
            </a:pPr>
            <a:r>
              <a:rPr lang="en-US" sz="7016" spc="-210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Donor Experience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3504" y="1514921"/>
            <a:ext cx="5340096" cy="104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5"/>
              </a:lnSpc>
            </a:pPr>
            <a:r>
              <a:rPr lang="en-US" sz="2975" b="true">
                <a:solidFill>
                  <a:srgbClr val="3B3B3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Post surplus food in minutes. </a:t>
            </a:r>
          </a:p>
          <a:p>
            <a:pPr algn="l">
              <a:lnSpc>
                <a:spcPts val="4165"/>
              </a:lnSpc>
            </a:pPr>
            <a:r>
              <a:rPr lang="en-US" sz="2975" b="true">
                <a:solidFill>
                  <a:srgbClr val="3B3B3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Track your impact with ease.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00075" y="2857500"/>
            <a:ext cx="9467850" cy="7096125"/>
          </a:xfrm>
          <a:custGeom>
            <a:avLst/>
            <a:gdLst/>
            <a:ahLst/>
            <a:cxnLst/>
            <a:rect r="r" b="b" t="t" l="l"/>
            <a:pathLst>
              <a:path h="7096125" w="9467850">
                <a:moveTo>
                  <a:pt x="0" y="0"/>
                </a:moveTo>
                <a:lnTo>
                  <a:pt x="9467850" y="0"/>
                </a:lnTo>
                <a:lnTo>
                  <a:pt x="9467850" y="7096125"/>
                </a:lnTo>
                <a:lnTo>
                  <a:pt x="0" y="7096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0" t="-1073" r="-1810" b="-174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0976" y="3088437"/>
            <a:ext cx="1755648" cy="32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017" spc="-60" b="true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My Dashboard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23925" y="3619500"/>
            <a:ext cx="1990725" cy="1447800"/>
          </a:xfrm>
          <a:custGeom>
            <a:avLst/>
            <a:gdLst/>
            <a:ahLst/>
            <a:cxnLst/>
            <a:rect r="r" b="b" t="t" l="l"/>
            <a:pathLst>
              <a:path h="1447800" w="1990725">
                <a:moveTo>
                  <a:pt x="0" y="0"/>
                </a:moveTo>
                <a:lnTo>
                  <a:pt x="1990725" y="0"/>
                </a:lnTo>
                <a:lnTo>
                  <a:pt x="1990725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70" t="-13157" r="-6698" b="-526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15568" y="4116685"/>
            <a:ext cx="274320" cy="56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506" spc="-105" b="true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5568" y="4702509"/>
            <a:ext cx="420624" cy="19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3"/>
              </a:lnSpc>
            </a:pPr>
            <a:r>
              <a:rPr lang="en-US" sz="1202" spc="-36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active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133725" y="3619500"/>
            <a:ext cx="2000250" cy="1447800"/>
          </a:xfrm>
          <a:custGeom>
            <a:avLst/>
            <a:gdLst/>
            <a:ahLst/>
            <a:cxnLst/>
            <a:rect r="r" b="b" t="t" l="l"/>
            <a:pathLst>
              <a:path h="1447800" w="2000250">
                <a:moveTo>
                  <a:pt x="0" y="0"/>
                </a:moveTo>
                <a:lnTo>
                  <a:pt x="2000250" y="0"/>
                </a:lnTo>
                <a:lnTo>
                  <a:pt x="20002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85" t="-13157" r="-4761" b="-526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28416" y="4116685"/>
            <a:ext cx="768096" cy="56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506" spc="-105" b="true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126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28416" y="4688447"/>
            <a:ext cx="420624" cy="21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238" spc="-37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meals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343525" y="3619500"/>
            <a:ext cx="2228850" cy="1447800"/>
          </a:xfrm>
          <a:custGeom>
            <a:avLst/>
            <a:gdLst/>
            <a:ahLst/>
            <a:cxnLst/>
            <a:rect r="r" b="b" t="t" l="l"/>
            <a:pathLst>
              <a:path h="1447800" w="2228850">
                <a:moveTo>
                  <a:pt x="0" y="0"/>
                </a:moveTo>
                <a:lnTo>
                  <a:pt x="2228850" y="0"/>
                </a:lnTo>
                <a:lnTo>
                  <a:pt x="22288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555" t="-13157" r="-2136" b="-526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41264" y="4693660"/>
            <a:ext cx="822960" cy="21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308" spc="-3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connected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29550" y="3619500"/>
            <a:ext cx="1914525" cy="1447800"/>
          </a:xfrm>
          <a:custGeom>
            <a:avLst/>
            <a:gdLst/>
            <a:ahLst/>
            <a:cxnLst/>
            <a:rect r="r" b="b" t="t" l="l"/>
            <a:pathLst>
              <a:path h="1447800" w="1914525">
                <a:moveTo>
                  <a:pt x="0" y="0"/>
                </a:moveTo>
                <a:lnTo>
                  <a:pt x="1914525" y="0"/>
                </a:lnTo>
                <a:lnTo>
                  <a:pt x="1914525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945" t="-13157" r="-2985" b="-526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046720" y="4693660"/>
            <a:ext cx="859536" cy="21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1"/>
              </a:lnSpc>
            </a:pPr>
            <a:r>
              <a:rPr lang="en-US" sz="1308" spc="-39">
                <a:solidFill>
                  <a:srgbClr val="3B3B3B"/>
                </a:solidFill>
                <a:latin typeface="Inter"/>
                <a:ea typeface="Inter"/>
                <a:cs typeface="Inter"/>
                <a:sym typeface="Inter"/>
              </a:rPr>
              <a:t>kg rescued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976" y="5476077"/>
            <a:ext cx="1170432" cy="28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4"/>
              </a:lnSpc>
            </a:pPr>
            <a:r>
              <a:rPr lang="en-US" sz="1734" spc="-52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My Listings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23925" y="5915025"/>
            <a:ext cx="1800225" cy="1181100"/>
          </a:xfrm>
          <a:custGeom>
            <a:avLst/>
            <a:gdLst/>
            <a:ahLst/>
            <a:cxnLst/>
            <a:rect r="r" b="b" t="t" l="l"/>
            <a:pathLst>
              <a:path h="1181100" w="1800225">
                <a:moveTo>
                  <a:pt x="0" y="0"/>
                </a:moveTo>
                <a:lnTo>
                  <a:pt x="1800225" y="0"/>
                </a:lnTo>
                <a:lnTo>
                  <a:pt x="1800225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174" t="-11290" r="-6349" b="-16129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23925" y="7229475"/>
            <a:ext cx="1800225" cy="1190625"/>
          </a:xfrm>
          <a:custGeom>
            <a:avLst/>
            <a:gdLst/>
            <a:ahLst/>
            <a:cxnLst/>
            <a:rect r="r" b="b" t="t" l="l"/>
            <a:pathLst>
              <a:path h="1190625" w="1800225">
                <a:moveTo>
                  <a:pt x="0" y="0"/>
                </a:moveTo>
                <a:lnTo>
                  <a:pt x="1800225" y="0"/>
                </a:lnTo>
                <a:lnTo>
                  <a:pt x="1800225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174" t="-13600" r="-6349" b="-1280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23925" y="8553450"/>
            <a:ext cx="1800225" cy="1190625"/>
          </a:xfrm>
          <a:custGeom>
            <a:avLst/>
            <a:gdLst/>
            <a:ahLst/>
            <a:cxnLst/>
            <a:rect r="r" b="b" t="t" l="l"/>
            <a:pathLst>
              <a:path h="1190625" w="1800225">
                <a:moveTo>
                  <a:pt x="0" y="0"/>
                </a:moveTo>
                <a:lnTo>
                  <a:pt x="1800225" y="0"/>
                </a:lnTo>
                <a:lnTo>
                  <a:pt x="1800225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174" t="-16800" r="-6349" b="-960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889504" y="5957523"/>
            <a:ext cx="2414016" cy="25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92" spc="-47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Pasta with Tomato Sauce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9504" y="6286481"/>
            <a:ext cx="1993392" cy="731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308" spc="-3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20 meals ⋅ Italian</a:t>
            </a:r>
          </a:p>
          <a:p>
            <a:pPr algn="l">
              <a:lnSpc>
                <a:spcPts val="1963"/>
              </a:lnSpc>
            </a:pPr>
            <a:r>
              <a:rPr lang="en-US" sz="1308" spc="-3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Today, 4:00 PM - 6:00 PM</a:t>
            </a:r>
          </a:p>
          <a:p>
            <a:pPr algn="l">
              <a:lnSpc>
                <a:spcPts val="1963"/>
              </a:lnSpc>
            </a:pPr>
            <a:r>
              <a:rPr lang="en-US" sz="1308" spc="-3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Downtown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105775" y="5953125"/>
            <a:ext cx="819150" cy="295275"/>
          </a:xfrm>
          <a:custGeom>
            <a:avLst/>
            <a:gdLst/>
            <a:ahLst/>
            <a:cxnLst/>
            <a:rect r="r" b="b" t="t" l="l"/>
            <a:pathLst>
              <a:path h="295275" w="819150">
                <a:moveTo>
                  <a:pt x="0" y="0"/>
                </a:moveTo>
                <a:lnTo>
                  <a:pt x="819150" y="0"/>
                </a:lnTo>
                <a:lnTo>
                  <a:pt x="819150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976" t="-58064" r="-1162" b="-6129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284464" y="6000178"/>
            <a:ext cx="530352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b="true" sz="1379" spc="-41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Active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7829550" y="6429375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889504" y="7305120"/>
            <a:ext cx="2249424" cy="25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92" spc="-47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Mixed Vegetable Salad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89504" y="7634078"/>
            <a:ext cx="2322576" cy="731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308" spc="-3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15 meals ⋅ Healthy</a:t>
            </a:r>
          </a:p>
          <a:p>
            <a:pPr algn="l">
              <a:lnSpc>
                <a:spcPts val="1963"/>
              </a:lnSpc>
            </a:pPr>
            <a:r>
              <a:rPr lang="en-US" sz="1308" spc="-3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Tomorrow, 12:00 PM - 2:00 PM</a:t>
            </a:r>
          </a:p>
          <a:p>
            <a:pPr algn="l">
              <a:lnSpc>
                <a:spcPts val="1963"/>
              </a:lnSpc>
            </a:pPr>
            <a:r>
              <a:rPr lang="en-US" sz="1308" spc="-3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Riverside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105775" y="7267575"/>
            <a:ext cx="819150" cy="295275"/>
          </a:xfrm>
          <a:custGeom>
            <a:avLst/>
            <a:gdLst/>
            <a:ahLst/>
            <a:cxnLst/>
            <a:rect r="r" b="b" t="t" l="l"/>
            <a:pathLst>
              <a:path h="295275" w="819150">
                <a:moveTo>
                  <a:pt x="0" y="0"/>
                </a:moveTo>
                <a:lnTo>
                  <a:pt x="819150" y="0"/>
                </a:lnTo>
                <a:lnTo>
                  <a:pt x="819150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976" t="-67741" r="-1162" b="-51612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284464" y="7316914"/>
            <a:ext cx="530352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b="true" sz="1379" spc="-41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Active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7829550" y="77152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8321040" y="7941477"/>
            <a:ext cx="566928" cy="2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b="true" sz="1486" spc="-44">
                <a:solidFill>
                  <a:srgbClr val="E65D35"/>
                </a:solidFill>
                <a:latin typeface="Inter Bold"/>
                <a:ea typeface="Inter Bold"/>
                <a:cs typeface="Inter Bold"/>
                <a:sym typeface="Inter Bold"/>
              </a:rPr>
              <a:t>Delete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89504" y="8961101"/>
            <a:ext cx="2084832" cy="731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308" spc="-3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25 meals ⋅ Indian</a:t>
            </a:r>
          </a:p>
          <a:p>
            <a:pPr algn="l">
              <a:lnSpc>
                <a:spcPts val="1963"/>
              </a:lnSpc>
            </a:pPr>
            <a:r>
              <a:rPr lang="en-US" sz="1308" spc="-3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May 25, 5:00 PM - 7:00 PM</a:t>
            </a:r>
          </a:p>
          <a:p>
            <a:pPr algn="l">
              <a:lnSpc>
                <a:spcPts val="1963"/>
              </a:lnSpc>
            </a:pPr>
            <a:r>
              <a:rPr lang="en-US" sz="1308" spc="-3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Uptown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8105775" y="8572500"/>
            <a:ext cx="809625" cy="323850"/>
          </a:xfrm>
          <a:custGeom>
            <a:avLst/>
            <a:gdLst/>
            <a:ahLst/>
            <a:cxnLst/>
            <a:rect r="r" b="b" t="t" l="l"/>
            <a:pathLst>
              <a:path h="323850" w="809625">
                <a:moveTo>
                  <a:pt x="0" y="0"/>
                </a:moveTo>
                <a:lnTo>
                  <a:pt x="809625" y="0"/>
                </a:lnTo>
                <a:lnTo>
                  <a:pt x="80962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7058" t="0" r="-2352" b="-32352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829550" y="9210675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15568" y="3794984"/>
            <a:ext cx="950976" cy="22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1415" spc="-42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My Listings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328416" y="3794984"/>
            <a:ext cx="1188720" cy="22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1415" spc="-42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Meals Offered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41264" y="3794984"/>
            <a:ext cx="1755648" cy="22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"/>
              </a:lnSpc>
            </a:pPr>
            <a:r>
              <a:rPr lang="en-US" sz="1415" spc="-42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Communities Helped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46720" y="3809047"/>
            <a:ext cx="1024128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Total Impact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41264" y="4116685"/>
            <a:ext cx="274320" cy="56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506" spc="-105" b="true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46720" y="4116460"/>
            <a:ext cx="475488" cy="56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471" spc="-104" b="true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18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08208" y="1175054"/>
            <a:ext cx="1865376" cy="38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 spc="-72" b="true">
                <a:solidFill>
                  <a:srgbClr val="E65D35"/>
                </a:solidFill>
                <a:latin typeface="Inter Bold"/>
                <a:ea typeface="Inter Bold"/>
                <a:cs typeface="Inter Bold"/>
                <a:sym typeface="Inter Bold"/>
              </a:rPr>
              <a:t>Donate Food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258800" y="8922447"/>
            <a:ext cx="1572768" cy="28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0"/>
              </a:lnSpc>
            </a:pPr>
            <a:r>
              <a:rPr lang="en-US" b="true" sz="1769" spc="-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Submit Listing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808208" y="2049970"/>
            <a:ext cx="987552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Description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009376" y="2656903"/>
            <a:ext cx="1956816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What are you donating?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08208" y="3428428"/>
            <a:ext cx="731520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Quantity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045184" y="3428428"/>
            <a:ext cx="768096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Category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09376" y="4014787"/>
            <a:ext cx="1170432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e.g., 20 meals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246352" y="4014787"/>
            <a:ext cx="1335024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Select category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808208" y="4724590"/>
            <a:ext cx="1335024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Pickup Window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75136" y="5290375"/>
            <a:ext cx="932688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Select date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30400" y="5290375"/>
            <a:ext cx="1444752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Select time range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808208" y="6000178"/>
            <a:ext cx="749808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Location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09376" y="6565963"/>
            <a:ext cx="1755648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Enter pickup location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808208" y="7286053"/>
            <a:ext cx="1389888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Notes (optional)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009376" y="7851838"/>
            <a:ext cx="1792224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79" spc="-41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Any additional details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889504" y="8632143"/>
            <a:ext cx="1133856" cy="25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92" spc="-47" b="true">
                <a:solidFill>
                  <a:srgbClr val="3B3B3B"/>
                </a:solidFill>
                <a:latin typeface="Inter Bold"/>
                <a:ea typeface="Inter Bold"/>
                <a:cs typeface="Inter Bold"/>
                <a:sym typeface="Inter Bold"/>
              </a:rPr>
              <a:t>Veg Biryani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370064" y="6609916"/>
            <a:ext cx="347472" cy="24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8"/>
              </a:lnSpc>
            </a:pPr>
            <a:r>
              <a:rPr lang="en-US" b="true" sz="1521" spc="-45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Edit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321040" y="6614454"/>
            <a:ext cx="566928" cy="2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b="true" sz="1486" spc="-44">
                <a:solidFill>
                  <a:srgbClr val="E65D35"/>
                </a:solidFill>
                <a:latin typeface="Inter Bold"/>
                <a:ea typeface="Inter Bold"/>
                <a:cs typeface="Inter Bold"/>
                <a:sym typeface="Inter Bold"/>
              </a:rPr>
              <a:t>Delete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370064" y="7936939"/>
            <a:ext cx="347472" cy="24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8"/>
              </a:lnSpc>
            </a:pPr>
            <a:r>
              <a:rPr lang="en-US" b="true" sz="1521" spc="-45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Edit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370064" y="9253675"/>
            <a:ext cx="347472" cy="24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8"/>
              </a:lnSpc>
            </a:pPr>
            <a:r>
              <a:rPr lang="en-US" b="true" sz="1521" spc="-45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Edit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321040" y="9258213"/>
            <a:ext cx="566928" cy="2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b="true" sz="1486" spc="-44">
                <a:solidFill>
                  <a:srgbClr val="E65D35"/>
                </a:solidFill>
                <a:latin typeface="Inter Bold"/>
                <a:ea typeface="Inter Bold"/>
                <a:cs typeface="Inter Bold"/>
                <a:sym typeface="Inter Bold"/>
              </a:rPr>
              <a:t>Delete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284464" y="8643937"/>
            <a:ext cx="530352" cy="21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3"/>
              </a:lnSpc>
            </a:pPr>
            <a:r>
              <a:rPr lang="en-US" b="true" sz="1379" spc="-41">
                <a:solidFill>
                  <a:srgbClr val="4B844B"/>
                </a:solidFill>
                <a:latin typeface="Inter Bold"/>
                <a:ea typeface="Inter Bold"/>
                <a:cs typeface="Inter Bold"/>
                <a:sym typeface="Inter Bold"/>
              </a:rPr>
              <a:t>Active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1023939"/>
            <a:ext cx="4279392" cy="159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5"/>
              </a:lnSpc>
            </a:pPr>
            <a:r>
              <a:rPr lang="en-US" sz="6094" b="true">
                <a:solidFill>
                  <a:srgbClr val="2E2E2E"/>
                </a:solidFill>
                <a:latin typeface="Inter Bold"/>
                <a:ea typeface="Inter Bold"/>
                <a:cs typeface="Inter Bold"/>
                <a:sym typeface="Inter Bold"/>
              </a:rPr>
              <a:t>Receiver Experience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3504" y="2989426"/>
            <a:ext cx="3621024" cy="82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Find nearby surplus food and claim it with ease.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410200" y="771525"/>
            <a:ext cx="12134850" cy="9001125"/>
          </a:xfrm>
          <a:custGeom>
            <a:avLst/>
            <a:gdLst/>
            <a:ahLst/>
            <a:cxnLst/>
            <a:rect r="r" b="b" t="t" l="l"/>
            <a:pathLst>
              <a:path h="9001125" w="12134850">
                <a:moveTo>
                  <a:pt x="0" y="0"/>
                </a:moveTo>
                <a:lnTo>
                  <a:pt x="12134850" y="0"/>
                </a:lnTo>
                <a:lnTo>
                  <a:pt x="12134850" y="9001125"/>
                </a:lnTo>
                <a:lnTo>
                  <a:pt x="0" y="9001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9" t="-1481" r="-784" b="-95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07024" y="1132157"/>
            <a:ext cx="1719072" cy="2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6" b="true">
                <a:solidFill>
                  <a:srgbClr val="2E2E2E"/>
                </a:solidFill>
                <a:latin typeface="Inter Bold"/>
                <a:ea typeface="Inter Bold"/>
                <a:cs typeface="Inter Bold"/>
                <a:sym typeface="Inter Bold"/>
              </a:rPr>
              <a:t>Find food near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876925" y="1285875"/>
            <a:ext cx="11106150" cy="857250"/>
          </a:xfrm>
          <a:custGeom>
            <a:avLst/>
            <a:gdLst/>
            <a:ahLst/>
            <a:cxnLst/>
            <a:rect r="r" b="b" t="t" l="l"/>
            <a:pathLst>
              <a:path h="857250" w="11106150">
                <a:moveTo>
                  <a:pt x="0" y="0"/>
                </a:moveTo>
                <a:lnTo>
                  <a:pt x="11106150" y="0"/>
                </a:lnTo>
                <a:lnTo>
                  <a:pt x="11106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08192" y="1617309"/>
            <a:ext cx="2962656" cy="26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Search food, cuisine, or kitchen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325850" y="1495425"/>
            <a:ext cx="657225" cy="438150"/>
          </a:xfrm>
          <a:custGeom>
            <a:avLst/>
            <a:gdLst/>
            <a:ahLst/>
            <a:cxnLst/>
            <a:rect r="r" b="b" t="t" l="l"/>
            <a:pathLst>
              <a:path h="438150" w="657225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76925" y="2143125"/>
            <a:ext cx="11325225" cy="1285875"/>
          </a:xfrm>
          <a:custGeom>
            <a:avLst/>
            <a:gdLst/>
            <a:ahLst/>
            <a:cxnLst/>
            <a:rect r="r" b="b" t="t" l="l"/>
            <a:pathLst>
              <a:path h="1285875" w="11325225">
                <a:moveTo>
                  <a:pt x="0" y="0"/>
                </a:moveTo>
                <a:lnTo>
                  <a:pt x="11325225" y="0"/>
                </a:lnTo>
                <a:lnTo>
                  <a:pt x="11325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96000" y="2695575"/>
            <a:ext cx="2943225" cy="533400"/>
          </a:xfrm>
          <a:custGeom>
            <a:avLst/>
            <a:gdLst/>
            <a:ahLst/>
            <a:cxnLst/>
            <a:rect r="r" b="b" t="t" l="l"/>
            <a:pathLst>
              <a:path h="533400" w="2943225">
                <a:moveTo>
                  <a:pt x="0" y="0"/>
                </a:moveTo>
                <a:lnTo>
                  <a:pt x="2943225" y="0"/>
                </a:lnTo>
                <a:lnTo>
                  <a:pt x="29432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3214" r="-3559" b="-3750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86775" y="278130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525000" y="2695575"/>
            <a:ext cx="2943225" cy="533400"/>
          </a:xfrm>
          <a:custGeom>
            <a:avLst/>
            <a:gdLst/>
            <a:ahLst/>
            <a:cxnLst/>
            <a:rect r="r" b="b" t="t" l="l"/>
            <a:pathLst>
              <a:path h="533400" w="2943225">
                <a:moveTo>
                  <a:pt x="0" y="0"/>
                </a:moveTo>
                <a:lnTo>
                  <a:pt x="2943225" y="0"/>
                </a:lnTo>
                <a:lnTo>
                  <a:pt x="2943225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825" t="-23214" r="-5501" b="-3750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972925" y="2781300"/>
            <a:ext cx="438150" cy="438150"/>
          </a:xfrm>
          <a:custGeom>
            <a:avLst/>
            <a:gdLst/>
            <a:ahLst/>
            <a:cxnLst/>
            <a:rect r="r" b="b" t="t" l="l"/>
            <a:pathLst>
              <a:path h="438150" w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54000" y="2695575"/>
            <a:ext cx="2914650" cy="533400"/>
          </a:xfrm>
          <a:custGeom>
            <a:avLst/>
            <a:gdLst/>
            <a:ahLst/>
            <a:cxnLst/>
            <a:rect r="r" b="b" t="t" l="l"/>
            <a:pathLst>
              <a:path h="533400" w="2914650">
                <a:moveTo>
                  <a:pt x="0" y="0"/>
                </a:moveTo>
                <a:lnTo>
                  <a:pt x="2914650" y="0"/>
                </a:lnTo>
                <a:lnTo>
                  <a:pt x="291465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921" t="-23214" r="-980" b="-3750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449550" y="2781300"/>
            <a:ext cx="228600" cy="438150"/>
          </a:xfrm>
          <a:custGeom>
            <a:avLst/>
            <a:gdLst/>
            <a:ahLst/>
            <a:cxnLst/>
            <a:rect r="r" b="b" t="t" l="l"/>
            <a:pathLst>
              <a:path h="438150" w="228600">
                <a:moveTo>
                  <a:pt x="0" y="0"/>
                </a:moveTo>
                <a:lnTo>
                  <a:pt x="228600" y="0"/>
                </a:lnTo>
                <a:lnTo>
                  <a:pt x="228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907024" y="3723113"/>
            <a:ext cx="1499616" cy="281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663" b="true">
                <a:solidFill>
                  <a:srgbClr val="2E2E2E"/>
                </a:solidFill>
                <a:latin typeface="Inter Bold"/>
                <a:ea typeface="Inter Bold"/>
                <a:cs typeface="Inter Bold"/>
                <a:sym typeface="Inter Bold"/>
              </a:rPr>
              <a:t>Available Now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5876925" y="4181475"/>
            <a:ext cx="3667125" cy="2114550"/>
          </a:xfrm>
          <a:custGeom>
            <a:avLst/>
            <a:gdLst/>
            <a:ahLst/>
            <a:cxnLst/>
            <a:rect r="r" b="b" t="t" l="l"/>
            <a:pathLst>
              <a:path h="2114550" w="3667125">
                <a:moveTo>
                  <a:pt x="0" y="0"/>
                </a:moveTo>
                <a:lnTo>
                  <a:pt x="3667125" y="0"/>
                </a:lnTo>
                <a:lnTo>
                  <a:pt x="3667125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5405" r="-1038" b="-6306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886450" y="6248400"/>
            <a:ext cx="3657600" cy="3248025"/>
          </a:xfrm>
          <a:custGeom>
            <a:avLst/>
            <a:gdLst/>
            <a:ahLst/>
            <a:cxnLst/>
            <a:rect r="r" b="b" t="t" l="l"/>
            <a:pathLst>
              <a:path h="3248025" w="3657600">
                <a:moveTo>
                  <a:pt x="0" y="0"/>
                </a:moveTo>
                <a:lnTo>
                  <a:pt x="3657600" y="0"/>
                </a:lnTo>
                <a:lnTo>
                  <a:pt x="3657600" y="3248025"/>
                </a:lnTo>
                <a:lnTo>
                  <a:pt x="0" y="3248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60" t="-1173" r="-1041" b="-469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144768" y="6458554"/>
            <a:ext cx="2084832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2E2E2E"/>
                </a:solidFill>
                <a:latin typeface="Inter Bold"/>
                <a:ea typeface="Inter Bold"/>
                <a:cs typeface="Inter Bold"/>
                <a:sym typeface="Inter Bold"/>
              </a:rPr>
              <a:t>Vegetable Fried Rice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44768" y="6896739"/>
            <a:ext cx="1682496" cy="24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Community Kitchen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019800" y="8705850"/>
            <a:ext cx="3390900" cy="619125"/>
          </a:xfrm>
          <a:custGeom>
            <a:avLst/>
            <a:gdLst/>
            <a:ahLst/>
            <a:cxnLst/>
            <a:rect r="r" b="b" t="t" l="l"/>
            <a:pathLst>
              <a:path h="619125" w="3390900">
                <a:moveTo>
                  <a:pt x="0" y="0"/>
                </a:moveTo>
                <a:lnTo>
                  <a:pt x="3390900" y="0"/>
                </a:lnTo>
                <a:lnTo>
                  <a:pt x="3390900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4213" t="-21538" r="-5056" b="-16923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705975" y="4191000"/>
            <a:ext cx="3657600" cy="2105025"/>
          </a:xfrm>
          <a:custGeom>
            <a:avLst/>
            <a:gdLst/>
            <a:ahLst/>
            <a:cxnLst/>
            <a:rect r="r" b="b" t="t" l="l"/>
            <a:pathLst>
              <a:path h="2105025" w="3657600">
                <a:moveTo>
                  <a:pt x="0" y="0"/>
                </a:moveTo>
                <a:lnTo>
                  <a:pt x="3657600" y="0"/>
                </a:lnTo>
                <a:lnTo>
                  <a:pt x="3657600" y="2105025"/>
                </a:lnTo>
                <a:lnTo>
                  <a:pt x="0" y="21050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3645" t="-5882" r="-3906" b="-6334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705975" y="6257925"/>
            <a:ext cx="3657600" cy="3238500"/>
          </a:xfrm>
          <a:custGeom>
            <a:avLst/>
            <a:gdLst/>
            <a:ahLst/>
            <a:cxnLst/>
            <a:rect r="r" b="b" t="t" l="l"/>
            <a:pathLst>
              <a:path h="3238500" w="3657600">
                <a:moveTo>
                  <a:pt x="0" y="0"/>
                </a:moveTo>
                <a:lnTo>
                  <a:pt x="3657600" y="0"/>
                </a:lnTo>
                <a:lnTo>
                  <a:pt x="365760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645" t="-1470" r="-3906" b="-4705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930384" y="6446068"/>
            <a:ext cx="1261872" cy="29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 b="true">
                <a:solidFill>
                  <a:srgbClr val="2E2E2E"/>
                </a:solidFill>
                <a:latin typeface="Inter Bold"/>
                <a:ea typeface="Inter Bold"/>
                <a:cs typeface="Inter Bold"/>
                <a:sym typeface="Inter Bold"/>
              </a:rPr>
              <a:t>Dal Parthas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1792" y="4828272"/>
            <a:ext cx="3438144" cy="396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D15322"/>
                </a:solidFill>
                <a:latin typeface="Inter Bold"/>
                <a:ea typeface="Inter Bold"/>
                <a:cs typeface="Inter Bold"/>
                <a:sym typeface="Inter Bold"/>
              </a:rPr>
              <a:t>Browse</a:t>
            </a:r>
            <a:r>
              <a:rPr lang="en-US" sz="2088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 fresh surplus food near you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2F7A57"/>
                </a:solidFill>
                <a:latin typeface="Inter Bold"/>
                <a:ea typeface="Inter Bold"/>
                <a:cs typeface="Inter Bold"/>
                <a:sym typeface="Inter Bold"/>
              </a:rPr>
              <a:t>Filter</a:t>
            </a:r>
            <a:r>
              <a:rPr lang="en-US" sz="2088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 by category, location and pickup window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2F7A57"/>
                </a:solidFill>
                <a:latin typeface="Inter Bold"/>
                <a:ea typeface="Inter Bold"/>
                <a:cs typeface="Inter Bold"/>
                <a:sym typeface="Inter Bold"/>
              </a:rPr>
              <a:t>See</a:t>
            </a:r>
            <a:r>
              <a:rPr lang="en-US" sz="2088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 quantity, location and pickup details upfront</a:t>
            </a:r>
          </a:p>
          <a:p>
            <a:pPr algn="l">
              <a:lnSpc>
                <a:spcPts val="2924"/>
              </a:lnSpc>
            </a:pPr>
          </a:p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D15322"/>
                </a:solidFill>
                <a:latin typeface="Inter Bold"/>
                <a:ea typeface="Inter Bold"/>
                <a:cs typeface="Inter Bold"/>
                <a:sym typeface="Inter Bold"/>
              </a:rPr>
              <a:t>Claim</a:t>
            </a:r>
            <a:r>
              <a:rPr lang="en-US" sz="2088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 what you can use and make an impact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08192" y="2372971"/>
            <a:ext cx="731520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 b="true">
                <a:solidFill>
                  <a:srgbClr val="2E2E2E"/>
                </a:solidFill>
                <a:latin typeface="Inter Bold"/>
                <a:ea typeface="Inter Bold"/>
                <a:cs typeface="Inter Bold"/>
                <a:sym typeface="Inter Bold"/>
              </a:rPr>
              <a:t>Category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46336" y="2372971"/>
            <a:ext cx="512064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 b="true">
                <a:solidFill>
                  <a:srgbClr val="2E2E2E"/>
                </a:solidFill>
                <a:latin typeface="Inter Bold"/>
                <a:ea typeface="Inter Bold"/>
                <a:cs typeface="Inter Bold"/>
                <a:sym typeface="Inter Bold"/>
              </a:rPr>
              <a:t>Within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66192" y="2372971"/>
            <a:ext cx="1225296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 b="true">
                <a:solidFill>
                  <a:srgbClr val="2E2E2E"/>
                </a:solidFill>
                <a:latin typeface="Inter Bold"/>
                <a:ea typeface="Inter Bold"/>
                <a:cs typeface="Inter Bold"/>
                <a:sym typeface="Inter Bold"/>
              </a:rPr>
              <a:t>Pickup Window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72784" y="2829062"/>
            <a:ext cx="1225296" cy="24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1"/>
              </a:lnSpc>
            </a:pPr>
            <a:r>
              <a:rPr lang="en-US" sz="1450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All Categories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92640" y="2829512"/>
            <a:ext cx="530352" cy="2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486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10 km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30784" y="2846761"/>
            <a:ext cx="512064" cy="22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344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Today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386048" y="2815675"/>
            <a:ext cx="548640" cy="26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21" b="true">
                <a:solidFill>
                  <a:srgbClr val="8F8F8F"/>
                </a:solidFill>
                <a:latin typeface="Inter Bold"/>
                <a:ea typeface="Inter Bold"/>
                <a:cs typeface="Inter Bold"/>
                <a:sym typeface="Inter Bold"/>
              </a:rPr>
              <a:t>Reset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44768" y="7372453"/>
            <a:ext cx="640080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>
                <a:solidFill>
                  <a:srgbClr val="2F7A57"/>
                </a:solidFill>
                <a:latin typeface="Inter"/>
                <a:ea typeface="Inter"/>
                <a:cs typeface="Inter"/>
                <a:sym typeface="Inter"/>
              </a:rPr>
              <a:t>Quantity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144768" y="7794220"/>
            <a:ext cx="640080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>
                <a:solidFill>
                  <a:srgbClr val="2F7A57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144768" y="8223849"/>
            <a:ext cx="1097280" cy="1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167">
                <a:solidFill>
                  <a:srgbClr val="2F7A57"/>
                </a:solidFill>
                <a:latin typeface="Inter"/>
                <a:ea typeface="Inter"/>
                <a:cs typeface="Inter"/>
                <a:sym typeface="Inter"/>
              </a:rPr>
              <a:t>Pickup Window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88352" y="7372453"/>
            <a:ext cx="329184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6 kg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88352" y="7799883"/>
            <a:ext cx="1645920" cy="22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2"/>
              </a:lnSpc>
            </a:pPr>
            <a:r>
              <a:rPr lang="en-US" sz="1308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Indiranag, Bengaluru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88352" y="8219537"/>
            <a:ext cx="1389888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4:00 PM – 5:00 PM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87184" y="8864431"/>
            <a:ext cx="1060704" cy="26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0"/>
              </a:lnSpc>
            </a:pPr>
            <a:r>
              <a:rPr lang="en-US" sz="152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Claim Food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30384" y="6910126"/>
            <a:ext cx="1353312" cy="22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344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Green Leaf Cafe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930384" y="7372453"/>
            <a:ext cx="640080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>
                <a:solidFill>
                  <a:srgbClr val="2F7A57"/>
                </a:solidFill>
                <a:latin typeface="Inter"/>
                <a:ea typeface="Inter"/>
                <a:cs typeface="Inter"/>
                <a:sym typeface="Inter"/>
              </a:rPr>
              <a:t>Quantity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30384" y="7794220"/>
            <a:ext cx="640080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>
                <a:solidFill>
                  <a:srgbClr val="2F7A57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30384" y="8223849"/>
            <a:ext cx="1097280" cy="1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167">
                <a:solidFill>
                  <a:srgbClr val="2F7A57"/>
                </a:solidFill>
                <a:latin typeface="Inter"/>
                <a:ea typeface="Inter"/>
                <a:cs typeface="Inter"/>
                <a:sym typeface="Inter"/>
              </a:rPr>
              <a:t>Pickup Window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00816" y="7372453"/>
            <a:ext cx="731520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20 pieces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00816" y="7812369"/>
            <a:ext cx="1737360" cy="1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167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Koramangaia, Bengaluru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100816" y="8219537"/>
            <a:ext cx="1389888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3:00 PM – 5:00 PM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09376" y="8864431"/>
            <a:ext cx="1060704" cy="26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0"/>
              </a:lnSpc>
            </a:pPr>
            <a:r>
              <a:rPr lang="en-US" sz="152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Claim Food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752576" y="6458554"/>
            <a:ext cx="2267712" cy="27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"/>
              </a:lnSpc>
            </a:pPr>
            <a:r>
              <a:rPr lang="en-US" sz="1592" b="true">
                <a:solidFill>
                  <a:srgbClr val="2E2E2E"/>
                </a:solidFill>
                <a:latin typeface="Inter Bold"/>
                <a:ea typeface="Inter Bold"/>
                <a:cs typeface="Inter Bold"/>
                <a:sym typeface="Inter Bold"/>
              </a:rPr>
              <a:t>Pasta in Tomato Sauce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752576" y="6901051"/>
            <a:ext cx="987552" cy="23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79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Urban Bites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52576" y="7372453"/>
            <a:ext cx="640080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>
                <a:solidFill>
                  <a:srgbClr val="2F7A57"/>
                </a:solidFill>
                <a:latin typeface="Inter"/>
                <a:ea typeface="Inter"/>
                <a:cs typeface="Inter"/>
                <a:sym typeface="Inter"/>
              </a:rPr>
              <a:t>Quantity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52576" y="7794220"/>
            <a:ext cx="640080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>
                <a:solidFill>
                  <a:srgbClr val="2F7A57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752576" y="8223849"/>
            <a:ext cx="1097280" cy="19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4"/>
              </a:lnSpc>
            </a:pPr>
            <a:r>
              <a:rPr lang="en-US" sz="1167">
                <a:solidFill>
                  <a:srgbClr val="2F7A57"/>
                </a:solidFill>
                <a:latin typeface="Inter"/>
                <a:ea typeface="Inter"/>
                <a:cs typeface="Inter"/>
                <a:sym typeface="Inter"/>
              </a:rPr>
              <a:t>Pickup Window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941296" y="7372453"/>
            <a:ext cx="329184" cy="22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1238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5 kg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941296" y="7808057"/>
            <a:ext cx="1700784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2E2E2E"/>
                </a:solidFill>
                <a:latin typeface="Inter"/>
                <a:ea typeface="Inter"/>
                <a:cs typeface="Inter"/>
                <a:sym typeface="Inter"/>
              </a:rPr>
              <a:t>HSR Layout, Bengaluru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941296" y="8219537"/>
            <a:ext cx="1389888" cy="2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"/>
              </a:lnSpc>
            </a:pPr>
            <a:r>
              <a:rPr lang="en-US" sz="1202">
                <a:solidFill>
                  <a:srgbClr val="8F8F8F"/>
                </a:solidFill>
                <a:latin typeface="Inter"/>
                <a:ea typeface="Inter"/>
                <a:cs typeface="Inter"/>
                <a:sym typeface="Inter"/>
              </a:rPr>
              <a:t>5:00 PM – 7:00 PM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831568" y="8864431"/>
            <a:ext cx="1060704" cy="26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0"/>
              </a:lnSpc>
            </a:pPr>
            <a:r>
              <a:rPr lang="en-US" sz="152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Claim Food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3232" y="897564"/>
            <a:ext cx="8851392" cy="108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0"/>
              </a:lnSpc>
            </a:pPr>
            <a:r>
              <a:rPr lang="en-US" sz="8150" spc="-244" b="true">
                <a:solidFill>
                  <a:srgbClr val="202122"/>
                </a:solidFill>
                <a:latin typeface="Inter Bold"/>
                <a:ea typeface="Inter Bold"/>
                <a:cs typeface="Inter Bold"/>
                <a:sym typeface="Inter Bold"/>
              </a:rPr>
              <a:t>Impact Dashboard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3232" y="2172893"/>
            <a:ext cx="9308592" cy="38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>
                <a:solidFill>
                  <a:srgbClr val="202122"/>
                </a:solidFill>
                <a:latin typeface="Inter"/>
                <a:ea typeface="Inter"/>
                <a:cs typeface="Inter"/>
                <a:sym typeface="Inter"/>
              </a:rPr>
              <a:t>Real-time metrics that capture the change we create together.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52475" y="3295650"/>
            <a:ext cx="3800475" cy="4562475"/>
          </a:xfrm>
          <a:custGeom>
            <a:avLst/>
            <a:gdLst/>
            <a:ahLst/>
            <a:cxnLst/>
            <a:rect r="r" b="b" t="t" l="l"/>
            <a:pathLst>
              <a:path h="4562475" w="3800475">
                <a:moveTo>
                  <a:pt x="0" y="0"/>
                </a:moveTo>
                <a:lnTo>
                  <a:pt x="3800475" y="0"/>
                </a:lnTo>
                <a:lnTo>
                  <a:pt x="3800475" y="4562475"/>
                </a:lnTo>
                <a:lnTo>
                  <a:pt x="0" y="4562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56" t="-1878" r="-501" b="-167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6816" y="3680720"/>
            <a:ext cx="1298448" cy="248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4"/>
              </a:lnSpc>
            </a:pPr>
            <a:r>
              <a:rPr lang="en-US" b="true" sz="18714" spc="-561">
                <a:solidFill>
                  <a:srgbClr val="588D59"/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5850" y="621030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3312" y="6823378"/>
            <a:ext cx="2615184" cy="52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4"/>
              </a:lnSpc>
            </a:pPr>
            <a:r>
              <a:rPr lang="en-US" b="true" sz="3187" spc="-63">
                <a:solidFill>
                  <a:srgbClr val="202122"/>
                </a:solidFill>
                <a:latin typeface="Inter Bold"/>
                <a:ea typeface="Inter Bold"/>
                <a:cs typeface="Inter Bold"/>
                <a:sym typeface="Inter Bold"/>
              </a:rPr>
              <a:t>Meals Shared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076825" y="3295650"/>
            <a:ext cx="3790950" cy="4562475"/>
          </a:xfrm>
          <a:custGeom>
            <a:avLst/>
            <a:gdLst/>
            <a:ahLst/>
            <a:cxnLst/>
            <a:rect r="r" b="b" t="t" l="l"/>
            <a:pathLst>
              <a:path h="4562475" w="3790950">
                <a:moveTo>
                  <a:pt x="0" y="0"/>
                </a:moveTo>
                <a:lnTo>
                  <a:pt x="3790950" y="0"/>
                </a:lnTo>
                <a:lnTo>
                  <a:pt x="3790950" y="4562475"/>
                </a:lnTo>
                <a:lnTo>
                  <a:pt x="0" y="4562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10" t="-1878" r="-1758" b="-167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327648" y="3680720"/>
            <a:ext cx="1298448" cy="248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4"/>
              </a:lnSpc>
            </a:pPr>
            <a:r>
              <a:rPr lang="en-US" b="true" sz="18714" spc="-561">
                <a:solidFill>
                  <a:srgbClr val="588D59"/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438775" y="621030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32704" y="6837216"/>
            <a:ext cx="2670048" cy="50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1"/>
              </a:lnSpc>
            </a:pPr>
            <a:r>
              <a:rPr lang="en-US" b="true" sz="3116" spc="-62">
                <a:solidFill>
                  <a:srgbClr val="202122"/>
                </a:solidFill>
                <a:latin typeface="Inter Bold"/>
                <a:ea typeface="Inter Bold"/>
                <a:cs typeface="Inter Bold"/>
                <a:sym typeface="Inter Bold"/>
              </a:rPr>
              <a:t>Active Donors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401175" y="3295650"/>
            <a:ext cx="3790950" cy="4562475"/>
          </a:xfrm>
          <a:custGeom>
            <a:avLst/>
            <a:gdLst/>
            <a:ahLst/>
            <a:cxnLst/>
            <a:rect r="r" b="b" t="t" l="l"/>
            <a:pathLst>
              <a:path h="4562475" w="3790950">
                <a:moveTo>
                  <a:pt x="0" y="0"/>
                </a:moveTo>
                <a:lnTo>
                  <a:pt x="3790950" y="0"/>
                </a:lnTo>
                <a:lnTo>
                  <a:pt x="3790950" y="4562475"/>
                </a:lnTo>
                <a:lnTo>
                  <a:pt x="0" y="4562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56" t="-1878" r="-2512" b="-167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98480" y="3680720"/>
            <a:ext cx="1298448" cy="248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4"/>
              </a:lnSpc>
            </a:pPr>
            <a:r>
              <a:rPr lang="en-US" b="true" sz="18714" spc="-561">
                <a:solidFill>
                  <a:srgbClr val="588D59"/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791700" y="621030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186416" y="6837216"/>
            <a:ext cx="2212848" cy="50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1"/>
              </a:lnSpc>
            </a:pPr>
            <a:r>
              <a:rPr lang="en-US" b="true" sz="3116" spc="-62">
                <a:solidFill>
                  <a:srgbClr val="202122"/>
                </a:solidFill>
                <a:latin typeface="Inter Bold"/>
                <a:ea typeface="Inter Bold"/>
                <a:cs typeface="Inter Bold"/>
                <a:sym typeface="Inter Bold"/>
              </a:rPr>
              <a:t>Food Saved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716000" y="3295650"/>
            <a:ext cx="3810000" cy="4562475"/>
          </a:xfrm>
          <a:custGeom>
            <a:avLst/>
            <a:gdLst/>
            <a:ahLst/>
            <a:cxnLst/>
            <a:rect r="r" b="b" t="t" l="l"/>
            <a:pathLst>
              <a:path h="4562475" w="3810000">
                <a:moveTo>
                  <a:pt x="0" y="0"/>
                </a:moveTo>
                <a:lnTo>
                  <a:pt x="3810000" y="0"/>
                </a:lnTo>
                <a:lnTo>
                  <a:pt x="3810000" y="4562475"/>
                </a:lnTo>
                <a:lnTo>
                  <a:pt x="0" y="45624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750" t="-1878" r="-3000" b="-167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959584" y="3680720"/>
            <a:ext cx="1298448" cy="248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14"/>
              </a:lnSpc>
            </a:pPr>
            <a:r>
              <a:rPr lang="en-US" b="true" sz="18714" spc="-561">
                <a:solidFill>
                  <a:srgbClr val="588D59"/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144625" y="6210300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228064" y="6823378"/>
            <a:ext cx="2779776" cy="52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4"/>
              </a:lnSpc>
            </a:pPr>
            <a:r>
              <a:rPr lang="en-US" b="true" sz="3187" spc="-63">
                <a:solidFill>
                  <a:srgbClr val="202122"/>
                </a:solidFill>
                <a:latin typeface="Inter Bold"/>
                <a:ea typeface="Inter Bold"/>
                <a:cs typeface="Inter Bold"/>
                <a:sym typeface="Inter Bold"/>
              </a:rPr>
              <a:t>People Helped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12464" y="8420667"/>
            <a:ext cx="10863072" cy="101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spc="-58">
                <a:solidFill>
                  <a:srgbClr val="202122"/>
                </a:solidFill>
                <a:latin typeface="Inter"/>
                <a:ea typeface="Inter"/>
                <a:cs typeface="Inter"/>
                <a:sym typeface="Inter"/>
              </a:rPr>
              <a:t>These metrics will </a:t>
            </a:r>
            <a:r>
              <a:rPr lang="en-US" b="true" sz="2939" spc="-58">
                <a:solidFill>
                  <a:srgbClr val="588D59"/>
                </a:solidFill>
                <a:latin typeface="Inter Bold"/>
                <a:ea typeface="Inter Bold"/>
                <a:cs typeface="Inter Bold"/>
                <a:sym typeface="Inter Bold"/>
              </a:rPr>
              <a:t>dynamically update</a:t>
            </a:r>
            <a:r>
              <a:rPr lang="en-US" sz="2939" spc="-58">
                <a:solidFill>
                  <a:srgbClr val="202122"/>
                </a:solidFill>
                <a:latin typeface="Inter"/>
                <a:ea typeface="Inter"/>
                <a:cs typeface="Inter"/>
                <a:sym typeface="Inter"/>
              </a:rPr>
              <a:t> after backend integration and successful claims.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0080" y="528066"/>
            <a:ext cx="8668512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2"/>
              </a:lnSpc>
            </a:pPr>
            <a:r>
              <a:rPr lang="en-US" sz="7477" spc="-224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Status &amp; Next Steps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1714500"/>
            <a:ext cx="8934450" cy="6648450"/>
          </a:xfrm>
          <a:custGeom>
            <a:avLst/>
            <a:gdLst/>
            <a:ahLst/>
            <a:cxnLst/>
            <a:rect r="r" b="b" t="t" l="l"/>
            <a:pathLst>
              <a:path h="6648450" w="8934450">
                <a:moveTo>
                  <a:pt x="0" y="0"/>
                </a:moveTo>
                <a:lnTo>
                  <a:pt x="8934450" y="0"/>
                </a:lnTo>
                <a:lnTo>
                  <a:pt x="8934450" y="6648450"/>
                </a:lnTo>
                <a:lnTo>
                  <a:pt x="0" y="6648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35024" y="2389061"/>
            <a:ext cx="512064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868" b="true">
                <a:solidFill>
                  <a:srgbClr val="679D68"/>
                </a:solidFill>
                <a:latin typeface="Inter Bold"/>
                <a:ea typeface="Inter Bold"/>
                <a:cs typeface="Inter Bold"/>
                <a:sym typeface="Inter Bold"/>
              </a:rPr>
              <a:t>COMPLETED IN PROTOTYPE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5024" y="3089318"/>
            <a:ext cx="2670048" cy="35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Responsive frontend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04925" y="3429000"/>
            <a:ext cx="6534150" cy="219075"/>
          </a:xfrm>
          <a:custGeom>
            <a:avLst/>
            <a:gdLst/>
            <a:ahLst/>
            <a:cxnLst/>
            <a:rect r="r" b="b" t="t" l="l"/>
            <a:pathLst>
              <a:path h="219075" w="6534150">
                <a:moveTo>
                  <a:pt x="0" y="0"/>
                </a:moveTo>
                <a:lnTo>
                  <a:pt x="6534150" y="0"/>
                </a:lnTo>
                <a:lnTo>
                  <a:pt x="6534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35024" y="3640192"/>
            <a:ext cx="1792224" cy="35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Landing page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04925" y="4067175"/>
            <a:ext cx="6534150" cy="219075"/>
          </a:xfrm>
          <a:custGeom>
            <a:avLst/>
            <a:gdLst/>
            <a:ahLst/>
            <a:cxnLst/>
            <a:rect r="r" b="b" t="t" l="l"/>
            <a:pathLst>
              <a:path h="219075" w="6534150">
                <a:moveTo>
                  <a:pt x="0" y="0"/>
                </a:moveTo>
                <a:lnTo>
                  <a:pt x="6534150" y="0"/>
                </a:lnTo>
                <a:lnTo>
                  <a:pt x="6534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5024" y="4179740"/>
            <a:ext cx="2267712" cy="35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Authentication UI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04925" y="4495800"/>
            <a:ext cx="6534150" cy="219075"/>
          </a:xfrm>
          <a:custGeom>
            <a:avLst/>
            <a:gdLst/>
            <a:ahLst/>
            <a:cxnLst/>
            <a:rect r="r" b="b" t="t" l="l"/>
            <a:pathLst>
              <a:path h="219075" w="6534150">
                <a:moveTo>
                  <a:pt x="0" y="0"/>
                </a:moveTo>
                <a:lnTo>
                  <a:pt x="6534150" y="0"/>
                </a:lnTo>
                <a:lnTo>
                  <a:pt x="6534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5024" y="4714664"/>
            <a:ext cx="2029968" cy="35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Donor interface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04925" y="5143500"/>
            <a:ext cx="6534150" cy="219075"/>
          </a:xfrm>
          <a:custGeom>
            <a:avLst/>
            <a:gdLst/>
            <a:ahLst/>
            <a:cxnLst/>
            <a:rect r="r" b="b" t="t" l="l"/>
            <a:pathLst>
              <a:path h="219075" w="6534150">
                <a:moveTo>
                  <a:pt x="0" y="0"/>
                </a:moveTo>
                <a:lnTo>
                  <a:pt x="6534150" y="0"/>
                </a:lnTo>
                <a:lnTo>
                  <a:pt x="6534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35024" y="5249588"/>
            <a:ext cx="2359152" cy="35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Receiver interface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04925" y="5572125"/>
            <a:ext cx="6534150" cy="219075"/>
          </a:xfrm>
          <a:custGeom>
            <a:avLst/>
            <a:gdLst/>
            <a:ahLst/>
            <a:cxnLst/>
            <a:rect r="r" b="b" t="t" l="l"/>
            <a:pathLst>
              <a:path h="219075" w="6534150">
                <a:moveTo>
                  <a:pt x="0" y="0"/>
                </a:moveTo>
                <a:lnTo>
                  <a:pt x="6534150" y="0"/>
                </a:lnTo>
                <a:lnTo>
                  <a:pt x="6534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35024" y="5784512"/>
            <a:ext cx="4498848" cy="35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053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Food listing and browse/claim flow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04925" y="6000750"/>
            <a:ext cx="6534150" cy="428625"/>
          </a:xfrm>
          <a:custGeom>
            <a:avLst/>
            <a:gdLst/>
            <a:ahLst/>
            <a:cxnLst/>
            <a:rect r="r" b="b" t="t" l="l"/>
            <a:pathLst>
              <a:path h="428625" w="6534150">
                <a:moveTo>
                  <a:pt x="0" y="0"/>
                </a:moveTo>
                <a:lnTo>
                  <a:pt x="6534150" y="0"/>
                </a:lnTo>
                <a:lnTo>
                  <a:pt x="6534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35024" y="6323749"/>
            <a:ext cx="1463040" cy="3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My Listings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04925" y="6638925"/>
            <a:ext cx="6534150" cy="219075"/>
          </a:xfrm>
          <a:custGeom>
            <a:avLst/>
            <a:gdLst/>
            <a:ahLst/>
            <a:cxnLst/>
            <a:rect r="r" b="b" t="t" l="l"/>
            <a:pathLst>
              <a:path h="219075" w="6534150">
                <a:moveTo>
                  <a:pt x="0" y="0"/>
                </a:moveTo>
                <a:lnTo>
                  <a:pt x="6534150" y="0"/>
                </a:lnTo>
                <a:lnTo>
                  <a:pt x="6534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35024" y="6858673"/>
            <a:ext cx="3584448" cy="3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Dynamic statistics structure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04925" y="7067550"/>
            <a:ext cx="6534150" cy="219075"/>
          </a:xfrm>
          <a:custGeom>
            <a:avLst/>
            <a:gdLst/>
            <a:ahLst/>
            <a:cxnLst/>
            <a:rect r="r" b="b" t="t" l="l"/>
            <a:pathLst>
              <a:path h="219075" w="6534150">
                <a:moveTo>
                  <a:pt x="0" y="0"/>
                </a:moveTo>
                <a:lnTo>
                  <a:pt x="6534150" y="0"/>
                </a:lnTo>
                <a:lnTo>
                  <a:pt x="6534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35024" y="7399260"/>
            <a:ext cx="1847088" cy="34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Role-based UI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820025" y="2552700"/>
            <a:ext cx="790575" cy="771525"/>
          </a:xfrm>
          <a:custGeom>
            <a:avLst/>
            <a:gdLst/>
            <a:ahLst/>
            <a:cxnLst/>
            <a:rect r="r" b="b" t="t" l="l"/>
            <a:pathLst>
              <a:path h="771525" w="790575">
                <a:moveTo>
                  <a:pt x="0" y="0"/>
                </a:moveTo>
                <a:lnTo>
                  <a:pt x="790575" y="0"/>
                </a:lnTo>
                <a:lnTo>
                  <a:pt x="79057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5301" t="-25925" r="-13253" b="-1358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048625" y="3429000"/>
            <a:ext cx="228600" cy="4286250"/>
          </a:xfrm>
          <a:custGeom>
            <a:avLst/>
            <a:gdLst/>
            <a:ahLst/>
            <a:cxnLst/>
            <a:rect r="r" b="b" t="t" l="l"/>
            <a:pathLst>
              <a:path h="4286250" w="228600">
                <a:moveTo>
                  <a:pt x="0" y="0"/>
                </a:moveTo>
                <a:lnTo>
                  <a:pt x="228600" y="0"/>
                </a:lnTo>
                <a:lnTo>
                  <a:pt x="2286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572625" y="1714500"/>
            <a:ext cx="8286750" cy="6429375"/>
          </a:xfrm>
          <a:custGeom>
            <a:avLst/>
            <a:gdLst/>
            <a:ahLst/>
            <a:cxnLst/>
            <a:rect r="r" b="b" t="t" l="l"/>
            <a:pathLst>
              <a:path h="6429375" w="8286750">
                <a:moveTo>
                  <a:pt x="0" y="0"/>
                </a:moveTo>
                <a:lnTo>
                  <a:pt x="8286750" y="0"/>
                </a:lnTo>
                <a:lnTo>
                  <a:pt x="82867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351008" y="2403348"/>
            <a:ext cx="221284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7" b="true">
                <a:solidFill>
                  <a:srgbClr val="E6573B"/>
                </a:solidFill>
                <a:latin typeface="Inter Bold"/>
                <a:ea typeface="Inter Bold"/>
                <a:cs typeface="Inter Bold"/>
                <a:sym typeface="Inter Bold"/>
              </a:rPr>
              <a:t>NEXT STEPS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72800" y="3093631"/>
            <a:ext cx="3218688" cy="3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Real SMS OTP integration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448925" y="3000375"/>
            <a:ext cx="438150" cy="1285875"/>
          </a:xfrm>
          <a:custGeom>
            <a:avLst/>
            <a:gdLst/>
            <a:ahLst/>
            <a:cxnLst/>
            <a:rect r="r" b="b" t="t" l="l"/>
            <a:pathLst>
              <a:path h="1285875" w="438150">
                <a:moveTo>
                  <a:pt x="0" y="0"/>
                </a:moveTo>
                <a:lnTo>
                  <a:pt x="438150" y="0"/>
                </a:lnTo>
                <a:lnTo>
                  <a:pt x="438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972800" y="3889592"/>
            <a:ext cx="2999232" cy="3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1947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Firebase/backend setup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448925" y="4286250"/>
            <a:ext cx="438150" cy="857250"/>
          </a:xfrm>
          <a:custGeom>
            <a:avLst/>
            <a:gdLst/>
            <a:ahLst/>
            <a:cxnLst/>
            <a:rect r="r" b="b" t="t" l="l"/>
            <a:pathLst>
              <a:path h="857250" w="4381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972800" y="4707478"/>
            <a:ext cx="3968496" cy="34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Cloud database implementation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448925" y="5143500"/>
            <a:ext cx="438150" cy="857250"/>
          </a:xfrm>
          <a:custGeom>
            <a:avLst/>
            <a:gdLst/>
            <a:ahLst/>
            <a:cxnLst/>
            <a:rect r="r" b="b" t="t" l="l"/>
            <a:pathLst>
              <a:path h="857250" w="438150">
                <a:moveTo>
                  <a:pt x="0" y="0"/>
                </a:moveTo>
                <a:lnTo>
                  <a:pt x="438150" y="0"/>
                </a:lnTo>
                <a:lnTo>
                  <a:pt x="4381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972800" y="5504651"/>
            <a:ext cx="3712464" cy="34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5"/>
              </a:lnSpc>
            </a:pPr>
            <a:r>
              <a:rPr lang="en-US" sz="1947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Real-time listings and updates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448925" y="5781675"/>
            <a:ext cx="438150" cy="1076325"/>
          </a:xfrm>
          <a:custGeom>
            <a:avLst/>
            <a:gdLst/>
            <a:ahLst/>
            <a:cxnLst/>
            <a:rect r="r" b="b" t="t" l="l"/>
            <a:pathLst>
              <a:path h="1076325" w="438150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972800" y="6312250"/>
            <a:ext cx="2578608" cy="34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Notifications system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0448925" y="6638925"/>
            <a:ext cx="438150" cy="866775"/>
          </a:xfrm>
          <a:custGeom>
            <a:avLst/>
            <a:gdLst/>
            <a:ahLst/>
            <a:cxnLst/>
            <a:rect r="r" b="b" t="t" l="l"/>
            <a:pathLst>
              <a:path h="866775" w="438150">
                <a:moveTo>
                  <a:pt x="0" y="0"/>
                </a:moveTo>
                <a:lnTo>
                  <a:pt x="438150" y="0"/>
                </a:lnTo>
                <a:lnTo>
                  <a:pt x="4381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972800" y="7115848"/>
            <a:ext cx="2962656" cy="34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Production deployment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428625" y="8353425"/>
            <a:ext cx="17430750" cy="1504950"/>
          </a:xfrm>
          <a:custGeom>
            <a:avLst/>
            <a:gdLst/>
            <a:ahLst/>
            <a:cxnLst/>
            <a:rect r="r" b="b" t="t" l="l"/>
            <a:pathLst>
              <a:path h="1504950" w="17430750">
                <a:moveTo>
                  <a:pt x="0" y="0"/>
                </a:moveTo>
                <a:lnTo>
                  <a:pt x="17430750" y="0"/>
                </a:lnTo>
                <a:lnTo>
                  <a:pt x="17430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335024" y="8668131"/>
            <a:ext cx="1016812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3081" spc="-92" b="true">
                <a:solidFill>
                  <a:srgbClr val="E6573B"/>
                </a:solidFill>
                <a:latin typeface="Inter Bold"/>
                <a:ea typeface="Inter Bold"/>
                <a:cs typeface="Inter Bold"/>
                <a:sym typeface="Inter Bold"/>
              </a:rPr>
              <a:t>PlateForward</a:t>
            </a:r>
            <a:r>
              <a:rPr lang="en-US" sz="3081" spc="-92" b="true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081" spc="-92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turns surplus food into community impact.</a:t>
            </a:r>
          </a:p>
          <a:p>
            <a:pPr algn="l">
              <a:lnSpc>
                <a:spcPts val="3697"/>
              </a:lnSpc>
            </a:pPr>
            <a:r>
              <a:rPr lang="en-US" sz="3081" spc="-92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From frontend prototype to real-world food redistribution.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DAHTnTq7qMo</dc:identifier>
  <dcterms:modified xsi:type="dcterms:W3CDTF">2011-08-01T06:04:30Z</dcterms:modified>
  <cp:revision>1</cp:revision>
</cp:coreProperties>
</file>